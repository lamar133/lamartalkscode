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62" r:id="rId3"/>
    <p:sldId id="263" r:id="rId4"/>
    <p:sldId id="264" r:id="rId5"/>
    <p:sldId id="258"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0F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8"/>
    <p:restoredTop sz="95500"/>
  </p:normalViewPr>
  <p:slideViewPr>
    <p:cSldViewPr snapToGrid="0" snapToObjects="1">
      <p:cViewPr>
        <p:scale>
          <a:sx n="118" d="100"/>
          <a:sy n="118" d="100"/>
        </p:scale>
        <p:origin x="-13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18A24D-6F4B-714C-8F61-181718C78D7F}" type="datetimeFigureOut">
              <a:rPr lang="en-US" smtClean="0"/>
              <a:t>2/22/18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6EDC55-04C5-7E4C-B2EB-81F3A30DA190}" type="slidenum">
              <a:rPr lang="en-US" smtClean="0"/>
              <a:t>‹#›</a:t>
            </a:fld>
            <a:endParaRPr lang="en-US"/>
          </a:p>
        </p:txBody>
      </p:sp>
    </p:spTree>
    <p:extLst>
      <p:ext uri="{BB962C8B-B14F-4D97-AF65-F5344CB8AC3E}">
        <p14:creationId xmlns:p14="http://schemas.microsoft.com/office/powerpoint/2010/main" val="1368952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8EE8D-8701-6E4E-8EF7-0AF23CFC9670}" type="datetimeFigureOut">
              <a:rPr lang="en-US" smtClean="0"/>
              <a:t>2/22/18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35A61D-79C9-E941-B870-4CF40A4DA6E8}" type="slidenum">
              <a:rPr lang="en-US" smtClean="0"/>
              <a:t>‹#›</a:t>
            </a:fld>
            <a:endParaRPr lang="en-US"/>
          </a:p>
        </p:txBody>
      </p:sp>
    </p:spTree>
    <p:extLst>
      <p:ext uri="{BB962C8B-B14F-4D97-AF65-F5344CB8AC3E}">
        <p14:creationId xmlns:p14="http://schemas.microsoft.com/office/powerpoint/2010/main" val="156198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F76E43-9E81-4440-9822-706A7068267B}" type="datetimeFigureOut">
              <a:rPr lang="en-US" smtClean="0"/>
              <a:t>2/22/18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66811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76E43-9E81-4440-9822-706A7068267B}" type="datetimeFigureOut">
              <a:rPr lang="en-US" smtClean="0"/>
              <a:t>2/22/18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2022753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F76E43-9E81-4440-9822-706A7068267B}" type="datetimeFigureOut">
              <a:rPr lang="en-US" smtClean="0"/>
              <a:t>2/22/18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174740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F76E43-9E81-4440-9822-706A7068267B}" type="datetimeFigureOut">
              <a:rPr lang="en-US" smtClean="0"/>
              <a:t>2/22/18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1790239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F76E43-9E81-4440-9822-706A7068267B}" type="datetimeFigureOut">
              <a:rPr lang="en-US" smtClean="0"/>
              <a:t>2/22/18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161478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F76E43-9E81-4440-9822-706A7068267B}" type="datetimeFigureOut">
              <a:rPr lang="en-US" smtClean="0"/>
              <a:t>2/22/18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1692395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76E43-9E81-4440-9822-706A7068267B}" type="datetimeFigureOut">
              <a:rPr lang="en-US" smtClean="0"/>
              <a:t>2/22/18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67354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F76E43-9E81-4440-9822-706A7068267B}" type="datetimeFigureOut">
              <a:rPr lang="en-US" smtClean="0"/>
              <a:t>2/22/18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8231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F76E43-9E81-4440-9822-706A7068267B}" type="datetimeFigureOut">
              <a:rPr lang="en-US" smtClean="0"/>
              <a:t>2/22/18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863207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76E43-9E81-4440-9822-706A7068267B}" type="datetimeFigureOut">
              <a:rPr lang="en-US" smtClean="0"/>
              <a:t>2/22/18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167166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F76E43-9E81-4440-9822-706A7068267B}" type="datetimeFigureOut">
              <a:rPr lang="en-US" smtClean="0"/>
              <a:t>2/22/18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B2228A-E8A7-F346-BF4F-3F1D0DE4239F}" type="slidenum">
              <a:rPr lang="en-US" smtClean="0"/>
              <a:t>‹#›</a:t>
            </a:fld>
            <a:endParaRPr lang="en-US"/>
          </a:p>
        </p:txBody>
      </p:sp>
    </p:spTree>
    <p:extLst>
      <p:ext uri="{BB962C8B-B14F-4D97-AF65-F5344CB8AC3E}">
        <p14:creationId xmlns:p14="http://schemas.microsoft.com/office/powerpoint/2010/main" val="7172193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76E43-9E81-4440-9822-706A7068267B}" type="datetimeFigureOut">
              <a:rPr lang="en-US" smtClean="0"/>
              <a:t>2/22/18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2228A-E8A7-F346-BF4F-3F1D0DE4239F}" type="slidenum">
              <a:rPr lang="en-US" smtClean="0"/>
              <a:t>‹#›</a:t>
            </a:fld>
            <a:endParaRPr lang="en-US"/>
          </a:p>
        </p:txBody>
      </p:sp>
    </p:spTree>
    <p:extLst>
      <p:ext uri="{BB962C8B-B14F-4D97-AF65-F5344CB8AC3E}">
        <p14:creationId xmlns:p14="http://schemas.microsoft.com/office/powerpoint/2010/main" val="1034108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xagon 3"/>
          <p:cNvSpPr/>
          <p:nvPr/>
        </p:nvSpPr>
        <p:spPr>
          <a:xfrm>
            <a:off x="4532243" y="1205948"/>
            <a:ext cx="3286540" cy="2729948"/>
          </a:xfrm>
          <a:prstGeom prst="hexagon">
            <a:avLst/>
          </a:prstGeom>
          <a:solidFill>
            <a:srgbClr val="9D0F5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About me</a:t>
            </a:r>
          </a:p>
          <a:p>
            <a:pPr algn="ctr"/>
            <a:r>
              <a:rPr lang="en-US" dirty="0" smtClean="0">
                <a:solidFill>
                  <a:schemeClr val="bg1"/>
                </a:solidFill>
              </a:rPr>
              <a:t>-</a:t>
            </a:r>
          </a:p>
          <a:p>
            <a:pPr algn="ctr"/>
            <a:r>
              <a:rPr lang="en-US" dirty="0" smtClean="0">
                <a:solidFill>
                  <a:schemeClr val="bg1"/>
                </a:solidFill>
              </a:rPr>
              <a:t>Blog</a:t>
            </a:r>
          </a:p>
          <a:p>
            <a:pPr algn="ctr"/>
            <a:r>
              <a:rPr lang="en-US" dirty="0" smtClean="0">
                <a:solidFill>
                  <a:schemeClr val="bg1"/>
                </a:solidFill>
              </a:rPr>
              <a:t>-</a:t>
            </a:r>
          </a:p>
          <a:p>
            <a:pPr algn="ctr"/>
            <a:r>
              <a:rPr lang="en-US" dirty="0" smtClean="0">
                <a:solidFill>
                  <a:schemeClr val="bg1"/>
                </a:solidFill>
              </a:rPr>
              <a:t>Featured </a:t>
            </a:r>
            <a:r>
              <a:rPr lang="en-US" dirty="0" err="1" smtClean="0">
                <a:solidFill>
                  <a:schemeClr val="bg1"/>
                </a:solidFill>
              </a:rPr>
              <a:t>Vizzes</a:t>
            </a:r>
            <a:endParaRPr lang="en-US" dirty="0" smtClean="0">
              <a:solidFill>
                <a:schemeClr val="bg1"/>
              </a:solidFill>
            </a:endParaRPr>
          </a:p>
          <a:p>
            <a:pPr algn="ctr"/>
            <a:r>
              <a:rPr lang="en-US" dirty="0" smtClean="0">
                <a:solidFill>
                  <a:schemeClr val="bg1"/>
                </a:solidFill>
              </a:rPr>
              <a:t>-</a:t>
            </a:r>
          </a:p>
          <a:p>
            <a:pPr algn="ctr"/>
            <a:r>
              <a:rPr lang="en-US" dirty="0" err="1" smtClean="0">
                <a:solidFill>
                  <a:schemeClr val="bg1"/>
                </a:solidFill>
              </a:rPr>
              <a:t>Vizpiration</a:t>
            </a:r>
            <a:endParaRPr lang="en-US" dirty="0" smtClean="0">
              <a:solidFill>
                <a:schemeClr val="bg1"/>
              </a:solidFill>
            </a:endParaRPr>
          </a:p>
          <a:p>
            <a:pPr algn="ctr"/>
            <a:r>
              <a:rPr lang="en-US" dirty="0" smtClean="0">
                <a:solidFill>
                  <a:schemeClr val="bg1"/>
                </a:solidFill>
              </a:rPr>
              <a:t>-</a:t>
            </a:r>
          </a:p>
          <a:p>
            <a:pPr algn="ctr"/>
            <a:r>
              <a:rPr lang="en-US" dirty="0" smtClean="0">
                <a:solidFill>
                  <a:schemeClr val="bg1"/>
                </a:solidFill>
              </a:rPr>
              <a:t>Links</a:t>
            </a:r>
            <a:endParaRPr lang="en-US" dirty="0">
              <a:solidFill>
                <a:schemeClr val="bg1"/>
              </a:solidFill>
            </a:endParaRPr>
          </a:p>
        </p:txBody>
      </p:sp>
    </p:spTree>
    <p:extLst>
      <p:ext uri="{BB962C8B-B14F-4D97-AF65-F5344CB8AC3E}">
        <p14:creationId xmlns:p14="http://schemas.microsoft.com/office/powerpoint/2010/main" val="692269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6" name="Merge 25"/>
          <p:cNvSpPr/>
          <p:nvPr/>
        </p:nvSpPr>
        <p:spPr>
          <a:xfrm rot="16200000">
            <a:off x="1805756" y="3276317"/>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8" name="TextBox 27"/>
          <p:cNvSpPr txBox="1"/>
          <p:nvPr/>
        </p:nvSpPr>
        <p:spPr>
          <a:xfrm>
            <a:off x="65813" y="3188728"/>
            <a:ext cx="1490764" cy="369332"/>
          </a:xfrm>
          <a:prstGeom prst="rect">
            <a:avLst/>
          </a:prstGeom>
          <a:noFill/>
        </p:spPr>
        <p:txBody>
          <a:bodyPr wrap="square" rtlCol="0">
            <a:spAutoFit/>
          </a:bodyPr>
          <a:lstStyle/>
          <a:p>
            <a:pPr algn="ctr"/>
            <a:r>
              <a:rPr lang="en-US" b="1" smtClean="0">
                <a:latin typeface="Courier New" charset="0"/>
                <a:ea typeface="Courier New" charset="0"/>
                <a:cs typeface="Courier New" charset="0"/>
              </a:rPr>
              <a:t>ABOUT ME</a:t>
            </a:r>
            <a:endParaRPr lang="en-US" b="1" dirty="0">
              <a:latin typeface="Courier New" charset="0"/>
              <a:ea typeface="Courier New" charset="0"/>
              <a:cs typeface="Courier New" charset="0"/>
            </a:endParaRPr>
          </a:p>
        </p:txBody>
      </p:sp>
      <p:sp>
        <p:nvSpPr>
          <p:cNvPr id="30" name="Oval 29"/>
          <p:cNvSpPr>
            <a:spLocks noChangeAspect="1"/>
          </p:cNvSpPr>
          <p:nvPr/>
        </p:nvSpPr>
        <p:spPr>
          <a:xfrm rot="16200000">
            <a:off x="3120070" y="3259576"/>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1" name="Oval 30"/>
          <p:cNvSpPr>
            <a:spLocks noChangeAspect="1"/>
          </p:cNvSpPr>
          <p:nvPr/>
        </p:nvSpPr>
        <p:spPr>
          <a:xfrm rot="16200000">
            <a:off x="3120070" y="3808794"/>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2" name="Oval 31"/>
          <p:cNvSpPr>
            <a:spLocks noChangeAspect="1"/>
          </p:cNvSpPr>
          <p:nvPr/>
        </p:nvSpPr>
        <p:spPr>
          <a:xfrm rot="16200000">
            <a:off x="3120070" y="2710358"/>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2" name="Left Brace 21"/>
          <p:cNvSpPr/>
          <p:nvPr/>
        </p:nvSpPr>
        <p:spPr>
          <a:xfrm>
            <a:off x="2842071" y="2028630"/>
            <a:ext cx="293914" cy="268952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3294929" y="2659287"/>
            <a:ext cx="1188000" cy="252000"/>
          </a:xfrm>
          <a:prstGeom prst="rect">
            <a:avLst/>
          </a:prstGeom>
          <a:noFill/>
        </p:spPr>
        <p:txBody>
          <a:bodyPr wrap="none" rtlCol="0">
            <a:spAutoFit/>
          </a:bodyPr>
          <a:lstStyle/>
          <a:p>
            <a:r>
              <a:rPr lang="en-US" sz="1200" dirty="0" smtClean="0"/>
              <a:t>Who I Am</a:t>
            </a:r>
            <a:endParaRPr lang="en-US" sz="1200" dirty="0"/>
          </a:p>
        </p:txBody>
      </p:sp>
      <p:sp>
        <p:nvSpPr>
          <p:cNvPr id="38" name="TextBox 37"/>
          <p:cNvSpPr txBox="1"/>
          <p:nvPr/>
        </p:nvSpPr>
        <p:spPr>
          <a:xfrm>
            <a:off x="3294929" y="3206116"/>
            <a:ext cx="1188000" cy="252000"/>
          </a:xfrm>
          <a:prstGeom prst="rect">
            <a:avLst/>
          </a:prstGeom>
          <a:noFill/>
        </p:spPr>
        <p:txBody>
          <a:bodyPr wrap="none" rtlCol="0">
            <a:spAutoFit/>
          </a:bodyPr>
          <a:lstStyle/>
          <a:p>
            <a:r>
              <a:rPr lang="en-US" sz="1200" dirty="0" smtClean="0"/>
              <a:t>Education</a:t>
            </a:r>
            <a:endParaRPr lang="en-US" sz="1200" dirty="0"/>
          </a:p>
        </p:txBody>
      </p:sp>
      <p:sp>
        <p:nvSpPr>
          <p:cNvPr id="39" name="TextBox 38"/>
          <p:cNvSpPr txBox="1"/>
          <p:nvPr/>
        </p:nvSpPr>
        <p:spPr>
          <a:xfrm>
            <a:off x="3294930" y="3762334"/>
            <a:ext cx="1188000" cy="252000"/>
          </a:xfrm>
          <a:prstGeom prst="rect">
            <a:avLst/>
          </a:prstGeom>
          <a:noFill/>
        </p:spPr>
        <p:txBody>
          <a:bodyPr wrap="none" rtlCol="0">
            <a:spAutoFit/>
          </a:bodyPr>
          <a:lstStyle/>
          <a:p>
            <a:r>
              <a:rPr lang="en-US" sz="1200" dirty="0" smtClean="0"/>
              <a:t>Tech Stack</a:t>
            </a:r>
            <a:endParaRPr lang="en-US" sz="1200" dirty="0"/>
          </a:p>
        </p:txBody>
      </p:sp>
      <p:sp>
        <p:nvSpPr>
          <p:cNvPr id="40" name="Rectangle 39"/>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a:spLocks noChangeAspect="1"/>
          </p:cNvSpPr>
          <p:nvPr/>
        </p:nvSpPr>
        <p:spPr>
          <a:xfrm>
            <a:off x="1196577" y="550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a:spLocks noChangeAspect="1"/>
          </p:cNvSpPr>
          <p:nvPr/>
        </p:nvSpPr>
        <p:spPr>
          <a:xfrm>
            <a:off x="1749324" y="490769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a:spLocks noChangeAspect="1"/>
          </p:cNvSpPr>
          <p:nvPr/>
        </p:nvSpPr>
        <p:spPr>
          <a:xfrm>
            <a:off x="451195" y="586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pic>
        <p:nvPicPr>
          <p:cNvPr id="47" name="Pictur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9211" y="400178"/>
            <a:ext cx="2487582" cy="2614070"/>
          </a:xfrm>
          <a:prstGeom prst="rect">
            <a:avLst/>
          </a:prstGeom>
        </p:spPr>
      </p:pic>
      <p:pic>
        <p:nvPicPr>
          <p:cNvPr id="48" name="Picture 4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4748" y="3780664"/>
            <a:ext cx="2450179" cy="2614070"/>
          </a:xfrm>
          <a:prstGeom prst="rect">
            <a:avLst/>
          </a:prstGeom>
        </p:spPr>
      </p:pic>
      <p:sp>
        <p:nvSpPr>
          <p:cNvPr id="49" name="TextBox 48"/>
          <p:cNvSpPr txBox="1"/>
          <p:nvPr/>
        </p:nvSpPr>
        <p:spPr>
          <a:xfrm>
            <a:off x="4934748" y="645384"/>
            <a:ext cx="3893846" cy="2123658"/>
          </a:xfrm>
          <a:prstGeom prst="rect">
            <a:avLst/>
          </a:prstGeom>
          <a:noFill/>
        </p:spPr>
        <p:txBody>
          <a:bodyPr wrap="square" rtlCol="0">
            <a:spAutoFit/>
          </a:bodyPr>
          <a:lstStyle/>
          <a:p>
            <a:pPr algn="ctr" fontAlgn="base"/>
            <a:r>
              <a:rPr lang="en-US" sz="1200" dirty="0"/>
              <a:t>.</a:t>
            </a:r>
          </a:p>
          <a:p>
            <a:pPr algn="ctr" fontAlgn="base"/>
            <a:r>
              <a:rPr lang="en-US" sz="1200" dirty="0"/>
              <a:t>.</a:t>
            </a:r>
          </a:p>
          <a:p>
            <a:pPr algn="ctr" fontAlgn="base"/>
            <a:r>
              <a:rPr lang="en-US" sz="1200" dirty="0"/>
              <a:t>.</a:t>
            </a:r>
          </a:p>
          <a:p>
            <a:pPr algn="ctr" fontAlgn="base"/>
            <a:r>
              <a:rPr lang="en-US" sz="1200" dirty="0"/>
              <a:t>See that aspiring basketball star there?</a:t>
            </a:r>
          </a:p>
          <a:p>
            <a:pPr algn="ctr" fontAlgn="base"/>
            <a:r>
              <a:rPr lang="en-US" sz="1200" dirty="0"/>
              <a:t>That was me, Lamar, when I was a mere tot.</a:t>
            </a:r>
          </a:p>
          <a:p>
            <a:pPr algn="ctr" fontAlgn="base"/>
            <a:r>
              <a:rPr lang="en-US" sz="1200" dirty="0"/>
              <a:t>I thought I’d go straight to the NBA but then I turned 9 and </a:t>
            </a:r>
            <a:r>
              <a:rPr lang="en-US" sz="1200" dirty="0" err="1"/>
              <a:t>realised</a:t>
            </a:r>
            <a:r>
              <a:rPr lang="en-US" sz="1200" dirty="0"/>
              <a:t> that I have no hand-eye coordination.</a:t>
            </a:r>
          </a:p>
          <a:p>
            <a:pPr algn="ctr" fontAlgn="base"/>
            <a:r>
              <a:rPr lang="en-US" sz="1200" dirty="0"/>
              <a:t>.</a:t>
            </a:r>
          </a:p>
          <a:p>
            <a:pPr algn="ctr" fontAlgn="base"/>
            <a:r>
              <a:rPr lang="en-US" sz="1200" dirty="0"/>
              <a:t>.</a:t>
            </a:r>
          </a:p>
          <a:p>
            <a:pPr algn="ctr" fontAlgn="base"/>
            <a:r>
              <a:rPr lang="en-US" sz="1200" dirty="0"/>
              <a:t>.</a:t>
            </a:r>
          </a:p>
          <a:p>
            <a:pPr algn="ctr"/>
            <a:endParaRPr lang="en-US" sz="1200" dirty="0"/>
          </a:p>
        </p:txBody>
      </p:sp>
      <p:sp>
        <p:nvSpPr>
          <p:cNvPr id="50" name="TextBox 49"/>
          <p:cNvSpPr txBox="1"/>
          <p:nvPr/>
        </p:nvSpPr>
        <p:spPr>
          <a:xfrm>
            <a:off x="7930218" y="3685484"/>
            <a:ext cx="3893846" cy="2677656"/>
          </a:xfrm>
          <a:prstGeom prst="rect">
            <a:avLst/>
          </a:prstGeom>
          <a:noFill/>
        </p:spPr>
        <p:txBody>
          <a:bodyPr wrap="square" rtlCol="0">
            <a:spAutoFit/>
          </a:bodyPr>
          <a:lstStyle/>
          <a:p>
            <a:pPr algn="ctr" fontAlgn="base"/>
            <a:r>
              <a:rPr lang="en-US" sz="1200" dirty="0"/>
              <a:t>So now I’m older and a relentlessly curious data detective. I’ve got a whole new set of skills and a constantly growing list of interests.</a:t>
            </a:r>
          </a:p>
          <a:p>
            <a:pPr algn="ctr" fontAlgn="base"/>
            <a:r>
              <a:rPr lang="en-US" sz="1200" dirty="0"/>
              <a:t>I also have a degree in psychology with a focus in linguistics and a fascinatingly random imagination.</a:t>
            </a:r>
          </a:p>
          <a:p>
            <a:pPr algn="ctr" fontAlgn="base"/>
            <a:r>
              <a:rPr lang="en-US" sz="1200" dirty="0"/>
              <a:t>Let’s chat sometime.  Who knows what brilliant things could happen if our minds were to collide!  We might even be able to come up with an actual cure for hiccups or something!</a:t>
            </a:r>
          </a:p>
          <a:p>
            <a:pPr algn="ctr" fontAlgn="base"/>
            <a:r>
              <a:rPr lang="en-US" sz="1200" dirty="0"/>
              <a:t>.</a:t>
            </a:r>
          </a:p>
          <a:p>
            <a:pPr algn="ctr" fontAlgn="base"/>
            <a:r>
              <a:rPr lang="en-US" sz="1200" dirty="0"/>
              <a:t>.</a:t>
            </a:r>
          </a:p>
          <a:p>
            <a:pPr algn="ctr" fontAlgn="base"/>
            <a:r>
              <a:rPr lang="en-US" sz="1200" dirty="0"/>
              <a:t>But seriously, as of writing this I can’t get rid of these hiccups.  I’ve tried holding my breath and scaring myself.  Nothing has worked.  Send help.</a:t>
            </a:r>
          </a:p>
        </p:txBody>
      </p:sp>
      <p:cxnSp>
        <p:nvCxnSpPr>
          <p:cNvPr id="52" name="Straight Connector 51"/>
          <p:cNvCxnSpPr/>
          <p:nvPr/>
        </p:nvCxnSpPr>
        <p:spPr>
          <a:xfrm>
            <a:off x="6349134" y="3373393"/>
            <a:ext cx="39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3165506" y="2761916"/>
            <a:ext cx="214145" cy="271849"/>
          </a:xfrm>
          <a:prstGeom prst="rect">
            <a:avLst/>
          </a:prstGeom>
        </p:spPr>
      </p:pic>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35" name="Picture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44" name="Picture 4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51" name="Picture 5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53" name="Picture 5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54" name="Picture 5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Tree>
    <p:extLst>
      <p:ext uri="{BB962C8B-B14F-4D97-AF65-F5344CB8AC3E}">
        <p14:creationId xmlns:p14="http://schemas.microsoft.com/office/powerpoint/2010/main" val="164324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6" name="Merge 25"/>
          <p:cNvSpPr/>
          <p:nvPr/>
        </p:nvSpPr>
        <p:spPr>
          <a:xfrm rot="16200000">
            <a:off x="1805756" y="3276317"/>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8" name="TextBox 27"/>
          <p:cNvSpPr txBox="1"/>
          <p:nvPr/>
        </p:nvSpPr>
        <p:spPr>
          <a:xfrm>
            <a:off x="65813" y="3188728"/>
            <a:ext cx="1490764" cy="369332"/>
          </a:xfrm>
          <a:prstGeom prst="rect">
            <a:avLst/>
          </a:prstGeom>
          <a:noFill/>
        </p:spPr>
        <p:txBody>
          <a:bodyPr wrap="square" rtlCol="0">
            <a:spAutoFit/>
          </a:bodyPr>
          <a:lstStyle/>
          <a:p>
            <a:pPr algn="ctr"/>
            <a:r>
              <a:rPr lang="en-US" b="1" smtClean="0">
                <a:latin typeface="Courier New" charset="0"/>
                <a:ea typeface="Courier New" charset="0"/>
                <a:cs typeface="Courier New" charset="0"/>
              </a:rPr>
              <a:t>ABOUT ME</a:t>
            </a:r>
            <a:endParaRPr lang="en-US" b="1" dirty="0">
              <a:latin typeface="Courier New" charset="0"/>
              <a:ea typeface="Courier New" charset="0"/>
              <a:cs typeface="Courier New" charset="0"/>
            </a:endParaRPr>
          </a:p>
        </p:txBody>
      </p:sp>
      <p:sp>
        <p:nvSpPr>
          <p:cNvPr id="22" name="Left Brace 21"/>
          <p:cNvSpPr/>
          <p:nvPr/>
        </p:nvSpPr>
        <p:spPr>
          <a:xfrm>
            <a:off x="2842071" y="2028630"/>
            <a:ext cx="293914" cy="268952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Rectangle 39"/>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a:spLocks noChangeAspect="1"/>
          </p:cNvSpPr>
          <p:nvPr/>
        </p:nvSpPr>
        <p:spPr>
          <a:xfrm>
            <a:off x="1196577" y="550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a:spLocks noChangeAspect="1"/>
          </p:cNvSpPr>
          <p:nvPr/>
        </p:nvSpPr>
        <p:spPr>
          <a:xfrm>
            <a:off x="1749324" y="490769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a:spLocks noChangeAspect="1"/>
          </p:cNvSpPr>
          <p:nvPr/>
        </p:nvSpPr>
        <p:spPr>
          <a:xfrm>
            <a:off x="451195" y="586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44" name="Picture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51" name="Picture 5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53" name="Picture 5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54" name="Picture 5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
        <p:nvSpPr>
          <p:cNvPr id="55" name="Oval 54"/>
          <p:cNvSpPr>
            <a:spLocks noChangeAspect="1"/>
          </p:cNvSpPr>
          <p:nvPr/>
        </p:nvSpPr>
        <p:spPr>
          <a:xfrm rot="16200000">
            <a:off x="3120070" y="3259576"/>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6" name="Oval 55"/>
          <p:cNvSpPr>
            <a:spLocks noChangeAspect="1"/>
          </p:cNvSpPr>
          <p:nvPr/>
        </p:nvSpPr>
        <p:spPr>
          <a:xfrm rot="16200000">
            <a:off x="3120070" y="3808794"/>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7" name="Oval 56"/>
          <p:cNvSpPr>
            <a:spLocks noChangeAspect="1"/>
          </p:cNvSpPr>
          <p:nvPr/>
        </p:nvSpPr>
        <p:spPr>
          <a:xfrm rot="16200000">
            <a:off x="3120070" y="2710358"/>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8" name="TextBox 57"/>
          <p:cNvSpPr txBox="1"/>
          <p:nvPr/>
        </p:nvSpPr>
        <p:spPr>
          <a:xfrm>
            <a:off x="3294929" y="2659287"/>
            <a:ext cx="1188000" cy="252000"/>
          </a:xfrm>
          <a:prstGeom prst="rect">
            <a:avLst/>
          </a:prstGeom>
          <a:noFill/>
        </p:spPr>
        <p:txBody>
          <a:bodyPr wrap="none" rtlCol="0">
            <a:spAutoFit/>
          </a:bodyPr>
          <a:lstStyle/>
          <a:p>
            <a:r>
              <a:rPr lang="en-US" sz="1200" dirty="0" smtClean="0"/>
              <a:t>Who I Am</a:t>
            </a:r>
            <a:endParaRPr lang="en-US" sz="1200" dirty="0"/>
          </a:p>
        </p:txBody>
      </p:sp>
      <p:sp>
        <p:nvSpPr>
          <p:cNvPr id="59" name="TextBox 58"/>
          <p:cNvSpPr txBox="1"/>
          <p:nvPr/>
        </p:nvSpPr>
        <p:spPr>
          <a:xfrm>
            <a:off x="3294929" y="3206116"/>
            <a:ext cx="1188000" cy="252000"/>
          </a:xfrm>
          <a:prstGeom prst="rect">
            <a:avLst/>
          </a:prstGeom>
          <a:noFill/>
        </p:spPr>
        <p:txBody>
          <a:bodyPr wrap="none" rtlCol="0">
            <a:spAutoFit/>
          </a:bodyPr>
          <a:lstStyle/>
          <a:p>
            <a:r>
              <a:rPr lang="en-US" sz="1200" dirty="0" smtClean="0"/>
              <a:t>Education</a:t>
            </a:r>
            <a:endParaRPr lang="en-US" sz="1200" dirty="0"/>
          </a:p>
        </p:txBody>
      </p:sp>
      <p:sp>
        <p:nvSpPr>
          <p:cNvPr id="60" name="TextBox 59"/>
          <p:cNvSpPr txBox="1"/>
          <p:nvPr/>
        </p:nvSpPr>
        <p:spPr>
          <a:xfrm>
            <a:off x="3294930" y="3762334"/>
            <a:ext cx="1188000" cy="252000"/>
          </a:xfrm>
          <a:prstGeom prst="rect">
            <a:avLst/>
          </a:prstGeom>
          <a:noFill/>
        </p:spPr>
        <p:txBody>
          <a:bodyPr wrap="none" rtlCol="0">
            <a:spAutoFit/>
          </a:bodyPr>
          <a:lstStyle/>
          <a:p>
            <a:r>
              <a:rPr lang="en-US" sz="1200" dirty="0" smtClean="0"/>
              <a:t>Tech Stack</a:t>
            </a:r>
            <a:endParaRPr lang="en-US" sz="1200" dirty="0"/>
          </a:p>
        </p:txBody>
      </p:sp>
      <p:pic>
        <p:nvPicPr>
          <p:cNvPr id="61" name="Picture 60"/>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3163240" y="3357081"/>
            <a:ext cx="214145" cy="271849"/>
          </a:xfrm>
          <a:prstGeom prst="rect">
            <a:avLst/>
          </a:prstGeom>
        </p:spPr>
      </p:pic>
      <p:sp>
        <p:nvSpPr>
          <p:cNvPr id="62" name="Rounded Rectangle 61"/>
          <p:cNvSpPr/>
          <p:nvPr/>
        </p:nvSpPr>
        <p:spPr>
          <a:xfrm>
            <a:off x="5616073" y="336812"/>
            <a:ext cx="3072008" cy="272924"/>
          </a:xfrm>
          <a:prstGeom prst="roundRect">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TECH STACK &amp; TOOLS</a:t>
            </a:r>
            <a:endParaRPr lang="en-US" sz="900" dirty="0">
              <a:solidFill>
                <a:srgbClr val="00B0F0"/>
              </a:solidFill>
              <a:latin typeface="Andale Mono" charset="0"/>
              <a:ea typeface="Andale Mono" charset="0"/>
              <a:cs typeface="Andale Mono" charset="0"/>
            </a:endParaRPr>
          </a:p>
        </p:txBody>
      </p:sp>
      <p:grpSp>
        <p:nvGrpSpPr>
          <p:cNvPr id="68" name="Group 67"/>
          <p:cNvGrpSpPr/>
          <p:nvPr/>
        </p:nvGrpSpPr>
        <p:grpSpPr>
          <a:xfrm>
            <a:off x="4927961" y="803496"/>
            <a:ext cx="4454579" cy="4127405"/>
            <a:chOff x="3148999" y="14251221"/>
            <a:chExt cx="6005806" cy="5564699"/>
          </a:xfrm>
        </p:grpSpPr>
        <p:sp>
          <p:nvSpPr>
            <p:cNvPr id="69" name="Rounded Rectangle 68"/>
            <p:cNvSpPr/>
            <p:nvPr/>
          </p:nvSpPr>
          <p:spPr>
            <a:xfrm>
              <a:off x="7246805" y="14251221"/>
              <a:ext cx="1908000" cy="468000"/>
            </a:xfrm>
            <a:prstGeom prst="roundRect">
              <a:avLst/>
            </a:prstGeom>
            <a:solidFill>
              <a:srgbClr val="7030A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SCRIPTING/DATA ANALYSIS</a:t>
              </a:r>
              <a:endParaRPr lang="en-US" sz="900" dirty="0">
                <a:solidFill>
                  <a:srgbClr val="00B0F0"/>
                </a:solidFill>
                <a:latin typeface="Andale Mono" charset="0"/>
                <a:ea typeface="Andale Mono" charset="0"/>
                <a:cs typeface="Andale Mono" charset="0"/>
              </a:endParaRPr>
            </a:p>
          </p:txBody>
        </p:sp>
        <p:sp>
          <p:nvSpPr>
            <p:cNvPr id="70" name="Rounded Rectangle 69"/>
            <p:cNvSpPr/>
            <p:nvPr/>
          </p:nvSpPr>
          <p:spPr>
            <a:xfrm>
              <a:off x="7246805" y="19347920"/>
              <a:ext cx="1908000" cy="468000"/>
            </a:xfrm>
            <a:prstGeom prst="roundRect">
              <a:avLst/>
            </a:prstGeom>
            <a:solidFill>
              <a:srgbClr val="7030A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APIS</a:t>
              </a:r>
              <a:endParaRPr lang="en-US" sz="900" dirty="0">
                <a:solidFill>
                  <a:srgbClr val="00B0F0"/>
                </a:solidFill>
                <a:latin typeface="Andale Mono" charset="0"/>
                <a:ea typeface="Andale Mono" charset="0"/>
                <a:cs typeface="Andale Mono" charset="0"/>
              </a:endParaRPr>
            </a:p>
          </p:txBody>
        </p:sp>
        <p:sp>
          <p:nvSpPr>
            <p:cNvPr id="71" name="Rounded Rectangle 70"/>
            <p:cNvSpPr/>
            <p:nvPr/>
          </p:nvSpPr>
          <p:spPr>
            <a:xfrm>
              <a:off x="3148999" y="14252646"/>
              <a:ext cx="1908000" cy="468000"/>
            </a:xfrm>
            <a:prstGeom prst="roundRect">
              <a:avLst/>
            </a:prstGeom>
            <a:solidFill>
              <a:srgbClr val="7030A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WEB DEVELOPMENT</a:t>
              </a:r>
              <a:endParaRPr lang="en-US" sz="900" dirty="0">
                <a:solidFill>
                  <a:srgbClr val="00B0F0"/>
                </a:solidFill>
                <a:latin typeface="Andale Mono" charset="0"/>
                <a:ea typeface="Andale Mono" charset="0"/>
                <a:cs typeface="Andale Mono" charset="0"/>
              </a:endParaRPr>
            </a:p>
          </p:txBody>
        </p:sp>
        <p:sp>
          <p:nvSpPr>
            <p:cNvPr id="72" name="Rounded Rectangle 71"/>
            <p:cNvSpPr/>
            <p:nvPr/>
          </p:nvSpPr>
          <p:spPr>
            <a:xfrm>
              <a:off x="3148999" y="19347920"/>
              <a:ext cx="1908000" cy="468000"/>
            </a:xfrm>
            <a:prstGeom prst="roundRect">
              <a:avLst/>
            </a:prstGeom>
            <a:solidFill>
              <a:srgbClr val="7030A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DATA DRAWING</a:t>
              </a:r>
              <a:endParaRPr lang="en-US" sz="900" dirty="0">
                <a:solidFill>
                  <a:srgbClr val="00B0F0"/>
                </a:solidFill>
                <a:latin typeface="Andale Mono" charset="0"/>
                <a:ea typeface="Andale Mono" charset="0"/>
                <a:cs typeface="Andale Mono" charset="0"/>
              </a:endParaRPr>
            </a:p>
          </p:txBody>
        </p:sp>
        <p:sp>
          <p:nvSpPr>
            <p:cNvPr id="73" name="Rectangle 72"/>
            <p:cNvSpPr/>
            <p:nvPr/>
          </p:nvSpPr>
          <p:spPr>
            <a:xfrm>
              <a:off x="3148999" y="14838479"/>
              <a:ext cx="1908000" cy="2160000"/>
            </a:xfrm>
            <a:prstGeom prst="rect">
              <a:avLst/>
            </a:prstGeom>
            <a:solidFill>
              <a:srgbClr val="FF289E">
                <a:alpha val="29804"/>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4" name="Rectangle 73"/>
            <p:cNvSpPr/>
            <p:nvPr/>
          </p:nvSpPr>
          <p:spPr>
            <a:xfrm>
              <a:off x="3148999" y="17041178"/>
              <a:ext cx="1908000" cy="2160000"/>
            </a:xfrm>
            <a:prstGeom prst="rect">
              <a:avLst/>
            </a:prstGeom>
            <a:solidFill>
              <a:schemeClr val="accent4">
                <a:alpha val="3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5" name="Rectangle 74"/>
            <p:cNvSpPr/>
            <p:nvPr/>
          </p:nvSpPr>
          <p:spPr>
            <a:xfrm>
              <a:off x="7246805" y="17041178"/>
              <a:ext cx="1908000" cy="2160000"/>
            </a:xfrm>
            <a:prstGeom prst="rect">
              <a:avLst/>
            </a:prstGeom>
            <a:solidFill>
              <a:srgbClr val="00B05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6" name="Rectangle 75"/>
            <p:cNvSpPr/>
            <p:nvPr/>
          </p:nvSpPr>
          <p:spPr>
            <a:xfrm>
              <a:off x="7246805" y="14838479"/>
              <a:ext cx="1908000" cy="2160000"/>
            </a:xfrm>
            <a:prstGeom prst="rect">
              <a:avLst/>
            </a:prstGeom>
            <a:solidFill>
              <a:srgbClr val="0096CC">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7" name="Rectangle 76"/>
            <p:cNvSpPr/>
            <p:nvPr/>
          </p:nvSpPr>
          <p:spPr>
            <a:xfrm>
              <a:off x="3662985" y="14863793"/>
              <a:ext cx="897339" cy="1718862"/>
            </a:xfrm>
            <a:prstGeom prst="rect">
              <a:avLst/>
            </a:prstGeom>
          </p:spPr>
          <p:txBody>
            <a:bodyPr wrap="none">
              <a:spAutoFit/>
            </a:bodyPr>
            <a:lstStyle/>
            <a:p>
              <a:pPr algn="ctr">
                <a:lnSpc>
                  <a:spcPct val="150000"/>
                </a:lnSpc>
              </a:pPr>
              <a:r>
                <a:rPr lang="en-US" sz="1050" b="1" dirty="0" smtClean="0">
                  <a:solidFill>
                    <a:srgbClr val="C00000"/>
                  </a:solidFill>
                  <a:latin typeface="Andale Mono" charset="0"/>
                  <a:ea typeface="Andale Mono" charset="0"/>
                  <a:cs typeface="Andale Mono" charset="0"/>
                </a:rPr>
                <a:t>FLASK</a:t>
              </a:r>
            </a:p>
            <a:p>
              <a:pPr algn="ctr">
                <a:lnSpc>
                  <a:spcPct val="150000"/>
                </a:lnSpc>
              </a:pPr>
              <a:r>
                <a:rPr lang="en-US" sz="1050" b="1" dirty="0" smtClean="0">
                  <a:solidFill>
                    <a:srgbClr val="C00000"/>
                  </a:solidFill>
                  <a:latin typeface="Andale Mono" charset="0"/>
                  <a:ea typeface="Andale Mono" charset="0"/>
                  <a:cs typeface="Andale Mono" charset="0"/>
                </a:rPr>
                <a:t>HTML</a:t>
              </a:r>
            </a:p>
            <a:p>
              <a:pPr algn="ctr">
                <a:lnSpc>
                  <a:spcPct val="150000"/>
                </a:lnSpc>
              </a:pPr>
              <a:r>
                <a:rPr lang="en-US" sz="1050" b="1" dirty="0" smtClean="0">
                  <a:solidFill>
                    <a:srgbClr val="C00000"/>
                  </a:solidFill>
                  <a:latin typeface="Andale Mono" charset="0"/>
                  <a:ea typeface="Andale Mono" charset="0"/>
                  <a:cs typeface="Andale Mono" charset="0"/>
                </a:rPr>
                <a:t>CSS</a:t>
              </a:r>
            </a:p>
            <a:p>
              <a:pPr algn="ctr">
                <a:lnSpc>
                  <a:spcPct val="150000"/>
                </a:lnSpc>
              </a:pPr>
              <a:r>
                <a:rPr lang="en-US" sz="1050" dirty="0" smtClean="0">
                  <a:solidFill>
                    <a:srgbClr val="00B0F0"/>
                  </a:solidFill>
                  <a:latin typeface="Andale Mono" charset="0"/>
                  <a:ea typeface="Andale Mono" charset="0"/>
                  <a:cs typeface="Andale Mono" charset="0"/>
                </a:rPr>
                <a:t>JQUERY</a:t>
              </a:r>
            </a:p>
            <a:p>
              <a:pPr algn="ctr">
                <a:lnSpc>
                  <a:spcPct val="150000"/>
                </a:lnSpc>
              </a:pPr>
              <a:r>
                <a:rPr lang="en-US" sz="1050" dirty="0" smtClean="0">
                  <a:solidFill>
                    <a:srgbClr val="00B0F0"/>
                  </a:solidFill>
                  <a:latin typeface="Andale Mono" charset="0"/>
                  <a:ea typeface="Andale Mono" charset="0"/>
                  <a:cs typeface="Andale Mono" charset="0"/>
                </a:rPr>
                <a:t>DJANGO</a:t>
              </a:r>
              <a:endParaRPr lang="en-US" sz="1050" dirty="0">
                <a:solidFill>
                  <a:srgbClr val="00B0F0"/>
                </a:solidFill>
                <a:latin typeface="Andale Mono" charset="0"/>
                <a:ea typeface="Andale Mono" charset="0"/>
                <a:cs typeface="Andale Mono" charset="0"/>
              </a:endParaRPr>
            </a:p>
          </p:txBody>
        </p:sp>
        <p:sp>
          <p:nvSpPr>
            <p:cNvPr id="78" name="Rectangle 77"/>
            <p:cNvSpPr/>
            <p:nvPr/>
          </p:nvSpPr>
          <p:spPr>
            <a:xfrm>
              <a:off x="7771303" y="14818388"/>
              <a:ext cx="897339" cy="1718862"/>
            </a:xfrm>
            <a:prstGeom prst="rect">
              <a:avLst/>
            </a:prstGeom>
          </p:spPr>
          <p:txBody>
            <a:bodyPr wrap="none">
              <a:spAutoFit/>
            </a:bodyPr>
            <a:lstStyle/>
            <a:p>
              <a:pPr algn="ctr">
                <a:lnSpc>
                  <a:spcPct val="150000"/>
                </a:lnSpc>
              </a:pPr>
              <a:r>
                <a:rPr lang="en-US" sz="1050" b="1" dirty="0" smtClean="0">
                  <a:solidFill>
                    <a:srgbClr val="C00000"/>
                  </a:solidFill>
                  <a:latin typeface="Andale Mono" charset="0"/>
                  <a:ea typeface="Andale Mono" charset="0"/>
                  <a:cs typeface="Andale Mono" charset="0"/>
                </a:rPr>
                <a:t>PYTHON</a:t>
              </a:r>
            </a:p>
            <a:p>
              <a:pPr algn="ctr">
                <a:lnSpc>
                  <a:spcPct val="150000"/>
                </a:lnSpc>
              </a:pPr>
              <a:r>
                <a:rPr lang="en-US" sz="1050" dirty="0" smtClean="0">
                  <a:solidFill>
                    <a:srgbClr val="00B0F0"/>
                  </a:solidFill>
                  <a:latin typeface="Andale Mono" charset="0"/>
                  <a:ea typeface="Andale Mono" charset="0"/>
                  <a:cs typeface="Andale Mono" charset="0"/>
                </a:rPr>
                <a:t>NUMPY</a:t>
              </a:r>
            </a:p>
            <a:p>
              <a:pPr algn="ctr">
                <a:lnSpc>
                  <a:spcPct val="150000"/>
                </a:lnSpc>
              </a:pPr>
              <a:r>
                <a:rPr lang="en-US" sz="1050" dirty="0" smtClean="0">
                  <a:solidFill>
                    <a:srgbClr val="00B0F0"/>
                  </a:solidFill>
                  <a:latin typeface="Andale Mono" charset="0"/>
                  <a:ea typeface="Andale Mono" charset="0"/>
                  <a:cs typeface="Andale Mono" charset="0"/>
                </a:rPr>
                <a:t>PANDAS</a:t>
              </a:r>
            </a:p>
            <a:p>
              <a:pPr algn="ctr">
                <a:lnSpc>
                  <a:spcPct val="150000"/>
                </a:lnSpc>
              </a:pPr>
              <a:r>
                <a:rPr lang="en-US" sz="1050" dirty="0" smtClean="0">
                  <a:solidFill>
                    <a:srgbClr val="00B0F0"/>
                  </a:solidFill>
                  <a:latin typeface="Andale Mono" charset="0"/>
                  <a:ea typeface="Andale Mono" charset="0"/>
                  <a:cs typeface="Andale Mono" charset="0"/>
                </a:rPr>
                <a:t>EXCEL</a:t>
              </a:r>
            </a:p>
            <a:p>
              <a:pPr algn="ctr">
                <a:lnSpc>
                  <a:spcPct val="150000"/>
                </a:lnSpc>
              </a:pPr>
              <a:r>
                <a:rPr lang="en-US" sz="1050" dirty="0" smtClean="0">
                  <a:solidFill>
                    <a:srgbClr val="00B0F0"/>
                  </a:solidFill>
                  <a:latin typeface="Andale Mono" charset="0"/>
                  <a:ea typeface="Andale Mono" charset="0"/>
                  <a:cs typeface="Andale Mono" charset="0"/>
                </a:rPr>
                <a:t>SQL</a:t>
              </a:r>
            </a:p>
          </p:txBody>
        </p:sp>
        <p:sp>
          <p:nvSpPr>
            <p:cNvPr id="79" name="Rectangle 78"/>
            <p:cNvSpPr/>
            <p:nvPr/>
          </p:nvSpPr>
          <p:spPr>
            <a:xfrm>
              <a:off x="3464295" y="17023733"/>
              <a:ext cx="1329582" cy="1718862"/>
            </a:xfrm>
            <a:prstGeom prst="rect">
              <a:avLst/>
            </a:prstGeom>
          </p:spPr>
          <p:txBody>
            <a:bodyPr wrap="none">
              <a:spAutoFit/>
            </a:bodyPr>
            <a:lstStyle/>
            <a:p>
              <a:pPr algn="ctr">
                <a:lnSpc>
                  <a:spcPct val="150000"/>
                </a:lnSpc>
              </a:pPr>
              <a:r>
                <a:rPr lang="en-US" sz="1050" dirty="0" smtClean="0">
                  <a:solidFill>
                    <a:srgbClr val="00B0F0"/>
                  </a:solidFill>
                  <a:latin typeface="Andale Mono" charset="0"/>
                  <a:ea typeface="Andale Mono" charset="0"/>
                  <a:cs typeface="Andale Mono" charset="0"/>
                </a:rPr>
                <a:t>POWERPOINT</a:t>
              </a:r>
            </a:p>
            <a:p>
              <a:pPr algn="ctr">
                <a:lnSpc>
                  <a:spcPct val="150000"/>
                </a:lnSpc>
              </a:pPr>
              <a:r>
                <a:rPr lang="en-US" sz="1050" dirty="0" smtClean="0">
                  <a:solidFill>
                    <a:srgbClr val="00B0F0"/>
                  </a:solidFill>
                  <a:latin typeface="Andale Mono" charset="0"/>
                  <a:ea typeface="Andale Mono" charset="0"/>
                  <a:cs typeface="Andale Mono" charset="0"/>
                </a:rPr>
                <a:t>TABLEAU</a:t>
              </a:r>
            </a:p>
            <a:p>
              <a:pPr algn="ctr">
                <a:lnSpc>
                  <a:spcPct val="150000"/>
                </a:lnSpc>
              </a:pPr>
              <a:r>
                <a:rPr lang="en-US" sz="1050" dirty="0" smtClean="0">
                  <a:solidFill>
                    <a:srgbClr val="00B0F0"/>
                  </a:solidFill>
                  <a:latin typeface="Andale Mono" charset="0"/>
                  <a:ea typeface="Andale Mono" charset="0"/>
                  <a:cs typeface="Andale Mono" charset="0"/>
                </a:rPr>
                <a:t>BOKEH</a:t>
              </a:r>
            </a:p>
            <a:p>
              <a:pPr algn="ctr">
                <a:lnSpc>
                  <a:spcPct val="150000"/>
                </a:lnSpc>
              </a:pPr>
              <a:r>
                <a:rPr lang="en-US" sz="1050" dirty="0" smtClean="0">
                  <a:solidFill>
                    <a:srgbClr val="00B0F0"/>
                  </a:solidFill>
                  <a:latin typeface="Andale Mono" charset="0"/>
                  <a:ea typeface="Andale Mono" charset="0"/>
                  <a:cs typeface="Andale Mono" charset="0"/>
                </a:rPr>
                <a:t>D3.JS</a:t>
              </a:r>
            </a:p>
            <a:p>
              <a:pPr algn="ctr">
                <a:lnSpc>
                  <a:spcPct val="150000"/>
                </a:lnSpc>
              </a:pPr>
              <a:r>
                <a:rPr lang="en-US" sz="1050" dirty="0" smtClean="0">
                  <a:solidFill>
                    <a:srgbClr val="00B0F0"/>
                  </a:solidFill>
                  <a:latin typeface="Andale Mono" charset="0"/>
                  <a:ea typeface="Andale Mono" charset="0"/>
                  <a:cs typeface="Andale Mono" charset="0"/>
                </a:rPr>
                <a:t>HANDS</a:t>
              </a:r>
              <a:endParaRPr lang="en-US" sz="1050" dirty="0">
                <a:solidFill>
                  <a:srgbClr val="00B0F0"/>
                </a:solidFill>
                <a:latin typeface="Andale Mono" charset="0"/>
                <a:ea typeface="Andale Mono" charset="0"/>
                <a:cs typeface="Andale Mono" charset="0"/>
              </a:endParaRPr>
            </a:p>
          </p:txBody>
        </p:sp>
        <p:sp>
          <p:nvSpPr>
            <p:cNvPr id="80" name="Rectangle 79"/>
            <p:cNvSpPr/>
            <p:nvPr/>
          </p:nvSpPr>
          <p:spPr>
            <a:xfrm>
              <a:off x="7717271" y="17265431"/>
              <a:ext cx="1005400" cy="1392086"/>
            </a:xfrm>
            <a:prstGeom prst="rect">
              <a:avLst/>
            </a:prstGeom>
          </p:spPr>
          <p:txBody>
            <a:bodyPr wrap="none">
              <a:spAutoFit/>
            </a:bodyPr>
            <a:lstStyle/>
            <a:p>
              <a:pPr algn="ctr">
                <a:lnSpc>
                  <a:spcPct val="150000"/>
                </a:lnSpc>
              </a:pPr>
              <a:r>
                <a:rPr lang="en-US" sz="1050" dirty="0" smtClean="0">
                  <a:solidFill>
                    <a:srgbClr val="00B0F0"/>
                  </a:solidFill>
                  <a:latin typeface="Andale Mono" charset="0"/>
                  <a:ea typeface="Andale Mono" charset="0"/>
                  <a:cs typeface="Andale Mono" charset="0"/>
                </a:rPr>
                <a:t>TWITTER</a:t>
              </a:r>
            </a:p>
            <a:p>
              <a:pPr algn="ctr">
                <a:lnSpc>
                  <a:spcPct val="150000"/>
                </a:lnSpc>
              </a:pPr>
              <a:r>
                <a:rPr lang="en-US" sz="1050" dirty="0" smtClean="0">
                  <a:solidFill>
                    <a:srgbClr val="00B0F0"/>
                  </a:solidFill>
                  <a:latin typeface="Andale Mono" charset="0"/>
                  <a:ea typeface="Andale Mono" charset="0"/>
                  <a:cs typeface="Andale Mono" charset="0"/>
                </a:rPr>
                <a:t>SPOTIFY</a:t>
              </a:r>
            </a:p>
            <a:p>
              <a:pPr algn="ctr">
                <a:lnSpc>
                  <a:spcPct val="150000"/>
                </a:lnSpc>
              </a:pPr>
              <a:r>
                <a:rPr lang="en-US" sz="1050" dirty="0" smtClean="0">
                  <a:solidFill>
                    <a:srgbClr val="00B0F0"/>
                  </a:solidFill>
                  <a:latin typeface="Andale Mono" charset="0"/>
                  <a:ea typeface="Andale Mono" charset="0"/>
                  <a:cs typeface="Andale Mono" charset="0"/>
                </a:rPr>
                <a:t>YOUTUBE</a:t>
              </a:r>
            </a:p>
            <a:p>
              <a:pPr algn="ctr">
                <a:lnSpc>
                  <a:spcPct val="150000"/>
                </a:lnSpc>
              </a:pPr>
              <a:r>
                <a:rPr lang="en-US" sz="1050" dirty="0" smtClean="0">
                  <a:solidFill>
                    <a:srgbClr val="00B0F0"/>
                  </a:solidFill>
                  <a:latin typeface="Andale Mono" charset="0"/>
                  <a:ea typeface="Andale Mono" charset="0"/>
                  <a:cs typeface="Andale Mono" charset="0"/>
                </a:rPr>
                <a:t>TUMBLR</a:t>
              </a:r>
            </a:p>
          </p:txBody>
        </p:sp>
        <p:sp>
          <p:nvSpPr>
            <p:cNvPr id="81" name="Rectangle 80"/>
            <p:cNvSpPr/>
            <p:nvPr/>
          </p:nvSpPr>
          <p:spPr>
            <a:xfrm>
              <a:off x="5196177" y="14838481"/>
              <a:ext cx="1908000" cy="4915275"/>
            </a:xfrm>
            <a:prstGeom prst="rect">
              <a:avLst/>
            </a:prstGeom>
            <a:solidFill>
              <a:srgbClr val="FF7636">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2" name="Rounded Rectangle 81"/>
            <p:cNvSpPr/>
            <p:nvPr/>
          </p:nvSpPr>
          <p:spPr>
            <a:xfrm>
              <a:off x="5197056" y="14252771"/>
              <a:ext cx="1891164" cy="468000"/>
            </a:xfrm>
            <a:prstGeom prst="roundRect">
              <a:avLst/>
            </a:prstGeom>
            <a:solidFill>
              <a:srgbClr val="7030A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dirty="0" smtClean="0">
                  <a:solidFill>
                    <a:srgbClr val="00B0F0"/>
                  </a:solidFill>
                  <a:latin typeface="Andale Mono" charset="0"/>
                  <a:ea typeface="Andale Mono" charset="0"/>
                  <a:cs typeface="Andale Mono" charset="0"/>
                </a:rPr>
                <a:t>MACHINE LEARNING + NLTK</a:t>
              </a:r>
              <a:endParaRPr lang="en-US" sz="900" dirty="0">
                <a:solidFill>
                  <a:srgbClr val="00B0F0"/>
                </a:solidFill>
                <a:latin typeface="Andale Mono" charset="0"/>
                <a:ea typeface="Andale Mono" charset="0"/>
                <a:cs typeface="Andale Mono" charset="0"/>
              </a:endParaRPr>
            </a:p>
          </p:txBody>
        </p:sp>
        <p:sp>
          <p:nvSpPr>
            <p:cNvPr id="83" name="Rectangle 82"/>
            <p:cNvSpPr/>
            <p:nvPr/>
          </p:nvSpPr>
          <p:spPr>
            <a:xfrm>
              <a:off x="5235078" y="15054090"/>
              <a:ext cx="1809373" cy="4108046"/>
            </a:xfrm>
            <a:prstGeom prst="rect">
              <a:avLst/>
            </a:prstGeom>
          </p:spPr>
          <p:txBody>
            <a:bodyPr wrap="none">
              <a:spAutoFit/>
            </a:bodyPr>
            <a:lstStyle/>
            <a:p>
              <a:pPr algn="ctr"/>
              <a:r>
                <a:rPr lang="en-US" sz="800" dirty="0" smtClean="0">
                  <a:solidFill>
                    <a:srgbClr val="00B0F0"/>
                  </a:solidFill>
                  <a:latin typeface="Andale Mono" charset="0"/>
                  <a:ea typeface="Andale Mono" charset="0"/>
                  <a:cs typeface="Andale Mono" charset="0"/>
                </a:rPr>
                <a:t>SENTIMENT ANALYSIS</a:t>
              </a:r>
              <a:endParaRPr lang="en-US" sz="800" dirty="0">
                <a:solidFill>
                  <a:srgbClr val="00B0F0"/>
                </a:solidFill>
                <a:latin typeface="Andale Mono" charset="0"/>
                <a:ea typeface="Andale Mono" charset="0"/>
                <a:cs typeface="Andale Mono" charset="0"/>
              </a:endParaRP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NAÏVE BAYES (NB)</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MULTINOMIAL NB</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NAMED ENTITY REC</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KNN</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COLOUR </a:t>
              </a:r>
            </a:p>
            <a:p>
              <a:pPr algn="ctr"/>
              <a:r>
                <a:rPr lang="en-US" sz="800" dirty="0" smtClean="0">
                  <a:solidFill>
                    <a:srgbClr val="00B0F0"/>
                  </a:solidFill>
                  <a:latin typeface="Andale Mono" charset="0"/>
                  <a:ea typeface="Andale Mono" charset="0"/>
                  <a:cs typeface="Andale Mono" charset="0"/>
                </a:rPr>
                <a:t>QUANTIZATION</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K-MEANS</a:t>
              </a:r>
            </a:p>
            <a:p>
              <a:pPr algn="ctr"/>
              <a:endParaRPr lang="en-US" sz="800" dirty="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SVM</a:t>
              </a:r>
            </a:p>
            <a:p>
              <a:pPr algn="ctr"/>
              <a:endParaRPr lang="en-US" sz="800" dirty="0" smtClean="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LINEAR REGRESSION</a:t>
              </a:r>
            </a:p>
            <a:p>
              <a:pPr algn="ctr"/>
              <a:endParaRPr lang="en-US" sz="800" dirty="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LOGISTIC REGRESSION</a:t>
              </a:r>
            </a:p>
            <a:p>
              <a:pPr algn="ctr"/>
              <a:endParaRPr lang="en-US" sz="800" dirty="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RANDOM FORESTS</a:t>
              </a:r>
            </a:p>
            <a:p>
              <a:pPr algn="ctr"/>
              <a:endParaRPr lang="en-US" sz="800" dirty="0">
                <a:solidFill>
                  <a:srgbClr val="00B0F0"/>
                </a:solidFill>
                <a:latin typeface="Andale Mono" charset="0"/>
                <a:ea typeface="Andale Mono" charset="0"/>
                <a:cs typeface="Andale Mono" charset="0"/>
              </a:endParaRPr>
            </a:p>
            <a:p>
              <a:pPr algn="ctr"/>
              <a:r>
                <a:rPr lang="en-US" sz="800" dirty="0" smtClean="0">
                  <a:solidFill>
                    <a:srgbClr val="00B0F0"/>
                  </a:solidFill>
                  <a:latin typeface="Andale Mono" charset="0"/>
                  <a:ea typeface="Andale Mono" charset="0"/>
                  <a:cs typeface="Andale Mono" charset="0"/>
                </a:rPr>
                <a:t>ANOVA</a:t>
              </a:r>
            </a:p>
          </p:txBody>
        </p:sp>
      </p:grpSp>
      <p:sp>
        <p:nvSpPr>
          <p:cNvPr id="84" name="Hexagon 83"/>
          <p:cNvSpPr>
            <a:spLocks noChangeAspect="1"/>
          </p:cNvSpPr>
          <p:nvPr/>
        </p:nvSpPr>
        <p:spPr>
          <a:xfrm>
            <a:off x="10608133" y="5501017"/>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solidFill>
                <a:srgbClr val="00B0F0"/>
              </a:solidFill>
            </a:endParaRPr>
          </a:p>
        </p:txBody>
      </p:sp>
      <p:sp>
        <p:nvSpPr>
          <p:cNvPr id="85" name="Hexagon 84"/>
          <p:cNvSpPr>
            <a:spLocks noChangeAspect="1"/>
          </p:cNvSpPr>
          <p:nvPr/>
        </p:nvSpPr>
        <p:spPr>
          <a:xfrm>
            <a:off x="10126351" y="5859619"/>
            <a:ext cx="747646" cy="654284"/>
          </a:xfrm>
          <a:prstGeom prst="hexagon">
            <a:avLst/>
          </a:prstGeom>
          <a:solidFill>
            <a:srgbClr val="FF0000">
              <a:alpha val="3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solidFill>
                <a:srgbClr val="FF0000"/>
              </a:solidFill>
            </a:endParaRPr>
          </a:p>
        </p:txBody>
      </p:sp>
      <p:sp>
        <p:nvSpPr>
          <p:cNvPr id="86" name="Hexagon 85"/>
          <p:cNvSpPr>
            <a:spLocks noChangeAspect="1"/>
          </p:cNvSpPr>
          <p:nvPr/>
        </p:nvSpPr>
        <p:spPr>
          <a:xfrm>
            <a:off x="9630000" y="5525123"/>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87" name="Hexagon 86"/>
          <p:cNvSpPr>
            <a:spLocks noChangeAspect="1"/>
          </p:cNvSpPr>
          <p:nvPr/>
        </p:nvSpPr>
        <p:spPr>
          <a:xfrm>
            <a:off x="9121303" y="587089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88" name="Hexagon 87"/>
          <p:cNvSpPr>
            <a:spLocks noChangeAspect="1"/>
          </p:cNvSpPr>
          <p:nvPr/>
        </p:nvSpPr>
        <p:spPr>
          <a:xfrm>
            <a:off x="8650661" y="546760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89" name="Hexagon 88"/>
          <p:cNvSpPr>
            <a:spLocks noChangeAspect="1"/>
          </p:cNvSpPr>
          <p:nvPr/>
        </p:nvSpPr>
        <p:spPr>
          <a:xfrm>
            <a:off x="8108282" y="5691641"/>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90" name="Hexagon 89"/>
          <p:cNvSpPr>
            <a:spLocks noChangeAspect="1"/>
          </p:cNvSpPr>
          <p:nvPr/>
        </p:nvSpPr>
        <p:spPr>
          <a:xfrm>
            <a:off x="7573295" y="5402356"/>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91" name="Hexagon 90"/>
          <p:cNvSpPr>
            <a:spLocks noChangeAspect="1"/>
          </p:cNvSpPr>
          <p:nvPr/>
        </p:nvSpPr>
        <p:spPr>
          <a:xfrm>
            <a:off x="7193458" y="5844546"/>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92" name="Hexagon 91"/>
          <p:cNvSpPr>
            <a:spLocks noChangeAspect="1"/>
          </p:cNvSpPr>
          <p:nvPr/>
        </p:nvSpPr>
        <p:spPr>
          <a:xfrm>
            <a:off x="6616330" y="5691641"/>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93" name="Hexagon 92"/>
          <p:cNvSpPr>
            <a:spLocks noChangeAspect="1"/>
          </p:cNvSpPr>
          <p:nvPr/>
        </p:nvSpPr>
        <p:spPr>
          <a:xfrm>
            <a:off x="10202538" y="103161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4" name="Hexagon 93"/>
          <p:cNvSpPr>
            <a:spLocks noChangeAspect="1"/>
          </p:cNvSpPr>
          <p:nvPr/>
        </p:nvSpPr>
        <p:spPr>
          <a:xfrm>
            <a:off x="10606249" y="1478624"/>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5" name="Hexagon 94"/>
          <p:cNvSpPr>
            <a:spLocks noChangeAspect="1"/>
          </p:cNvSpPr>
          <p:nvPr/>
        </p:nvSpPr>
        <p:spPr>
          <a:xfrm>
            <a:off x="10156928" y="1855703"/>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6" name="Hexagon 95"/>
          <p:cNvSpPr>
            <a:spLocks noChangeAspect="1"/>
          </p:cNvSpPr>
          <p:nvPr/>
        </p:nvSpPr>
        <p:spPr>
          <a:xfrm>
            <a:off x="10569471" y="2395437"/>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7" name="Hexagon 96"/>
          <p:cNvSpPr>
            <a:spLocks noChangeAspect="1"/>
          </p:cNvSpPr>
          <p:nvPr/>
        </p:nvSpPr>
        <p:spPr>
          <a:xfrm>
            <a:off x="10255953" y="2917617"/>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8" name="Hexagon 97"/>
          <p:cNvSpPr>
            <a:spLocks noChangeAspect="1"/>
          </p:cNvSpPr>
          <p:nvPr/>
        </p:nvSpPr>
        <p:spPr>
          <a:xfrm>
            <a:off x="10623258" y="3447725"/>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99" name="Hexagon 98"/>
          <p:cNvSpPr>
            <a:spLocks noChangeAspect="1"/>
          </p:cNvSpPr>
          <p:nvPr/>
        </p:nvSpPr>
        <p:spPr>
          <a:xfrm>
            <a:off x="10374851" y="399863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100" name="Hexagon 99"/>
          <p:cNvSpPr>
            <a:spLocks noChangeAspect="1"/>
          </p:cNvSpPr>
          <p:nvPr/>
        </p:nvSpPr>
        <p:spPr>
          <a:xfrm>
            <a:off x="10758948" y="4528748"/>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101" name="Hexagon 100"/>
          <p:cNvSpPr>
            <a:spLocks noChangeAspect="1"/>
          </p:cNvSpPr>
          <p:nvPr/>
        </p:nvSpPr>
        <p:spPr>
          <a:xfrm>
            <a:off x="10290988" y="4898560"/>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rgbClr val="00B0F0"/>
              </a:solidFill>
            </a:endParaRPr>
          </a:p>
        </p:txBody>
      </p:sp>
      <p:sp>
        <p:nvSpPr>
          <p:cNvPr id="104" name="TextBox 103"/>
          <p:cNvSpPr txBox="1"/>
          <p:nvPr/>
        </p:nvSpPr>
        <p:spPr>
          <a:xfrm>
            <a:off x="10566231" y="5729089"/>
            <a:ext cx="855372" cy="230832"/>
          </a:xfrm>
          <a:prstGeom prst="rect">
            <a:avLst/>
          </a:prstGeom>
          <a:noFill/>
        </p:spPr>
        <p:txBody>
          <a:bodyPr wrap="square" rtlCol="0">
            <a:spAutoFit/>
          </a:bodyPr>
          <a:lstStyle/>
          <a:p>
            <a:pPr algn="ctr"/>
            <a:r>
              <a:rPr lang="en-US" sz="900" b="1" dirty="0" smtClean="0">
                <a:solidFill>
                  <a:srgbClr val="00B0F0"/>
                </a:solidFill>
              </a:rPr>
              <a:t>[LAMJO]</a:t>
            </a:r>
            <a:endParaRPr lang="en-US" sz="900" b="1" dirty="0">
              <a:solidFill>
                <a:srgbClr val="00B0F0"/>
              </a:solidFill>
            </a:endParaRPr>
          </a:p>
        </p:txBody>
      </p:sp>
      <p:sp>
        <p:nvSpPr>
          <p:cNvPr id="105" name="TextBox 104"/>
          <p:cNvSpPr txBox="1"/>
          <p:nvPr/>
        </p:nvSpPr>
        <p:spPr>
          <a:xfrm>
            <a:off x="10088087" y="6073383"/>
            <a:ext cx="855372" cy="230832"/>
          </a:xfrm>
          <a:prstGeom prst="rect">
            <a:avLst/>
          </a:prstGeom>
          <a:noFill/>
        </p:spPr>
        <p:txBody>
          <a:bodyPr wrap="square" rtlCol="0">
            <a:spAutoFit/>
          </a:bodyPr>
          <a:lstStyle/>
          <a:p>
            <a:pPr algn="ctr"/>
            <a:r>
              <a:rPr lang="en-US" sz="900" b="1" smtClean="0">
                <a:solidFill>
                  <a:srgbClr val="00B0F0"/>
                </a:solidFill>
              </a:rPr>
              <a:t>[SLEUTH]</a:t>
            </a:r>
            <a:endParaRPr lang="en-US" sz="900" b="1" dirty="0">
              <a:solidFill>
                <a:srgbClr val="00B0F0"/>
              </a:solidFill>
            </a:endParaRPr>
          </a:p>
        </p:txBody>
      </p:sp>
      <p:sp>
        <p:nvSpPr>
          <p:cNvPr id="106" name="TextBox 105"/>
          <p:cNvSpPr txBox="1"/>
          <p:nvPr/>
        </p:nvSpPr>
        <p:spPr>
          <a:xfrm>
            <a:off x="9578106" y="5735185"/>
            <a:ext cx="855372" cy="230832"/>
          </a:xfrm>
          <a:prstGeom prst="rect">
            <a:avLst/>
          </a:prstGeom>
          <a:noFill/>
        </p:spPr>
        <p:txBody>
          <a:bodyPr wrap="square" rtlCol="0">
            <a:spAutoFit/>
          </a:bodyPr>
          <a:lstStyle/>
          <a:p>
            <a:pPr algn="ctr"/>
            <a:r>
              <a:rPr lang="en-US" sz="900" b="1" dirty="0" smtClean="0">
                <a:solidFill>
                  <a:srgbClr val="00B0F0"/>
                </a:solidFill>
              </a:rPr>
              <a:t>[SPELLBOOK]</a:t>
            </a:r>
            <a:endParaRPr lang="en-US" sz="900" b="1" dirty="0">
              <a:solidFill>
                <a:srgbClr val="00B0F0"/>
              </a:solidFill>
            </a:endParaRPr>
          </a:p>
        </p:txBody>
      </p:sp>
      <p:sp>
        <p:nvSpPr>
          <p:cNvPr id="107" name="TextBox 106"/>
          <p:cNvSpPr txBox="1"/>
          <p:nvPr/>
        </p:nvSpPr>
        <p:spPr>
          <a:xfrm>
            <a:off x="9084104" y="6084677"/>
            <a:ext cx="855372" cy="230832"/>
          </a:xfrm>
          <a:prstGeom prst="rect">
            <a:avLst/>
          </a:prstGeom>
          <a:noFill/>
        </p:spPr>
        <p:txBody>
          <a:bodyPr wrap="square" rtlCol="0">
            <a:spAutoFit/>
          </a:bodyPr>
          <a:lstStyle/>
          <a:p>
            <a:pPr algn="ctr"/>
            <a:r>
              <a:rPr lang="en-US" sz="900" b="1" dirty="0" smtClean="0">
                <a:solidFill>
                  <a:srgbClr val="00B0F0"/>
                </a:solidFill>
              </a:rPr>
              <a:t>[SCORY 1]</a:t>
            </a:r>
            <a:endParaRPr lang="en-US" sz="900" b="1" dirty="0">
              <a:solidFill>
                <a:srgbClr val="00B0F0"/>
              </a:solidFill>
            </a:endParaRPr>
          </a:p>
        </p:txBody>
      </p:sp>
      <p:sp>
        <p:nvSpPr>
          <p:cNvPr id="108" name="TextBox 107"/>
          <p:cNvSpPr txBox="1"/>
          <p:nvPr/>
        </p:nvSpPr>
        <p:spPr>
          <a:xfrm>
            <a:off x="8577528" y="5668045"/>
            <a:ext cx="855372" cy="230832"/>
          </a:xfrm>
          <a:prstGeom prst="rect">
            <a:avLst/>
          </a:prstGeom>
          <a:noFill/>
        </p:spPr>
        <p:txBody>
          <a:bodyPr wrap="square" rtlCol="0">
            <a:spAutoFit/>
          </a:bodyPr>
          <a:lstStyle/>
          <a:p>
            <a:pPr algn="ctr"/>
            <a:r>
              <a:rPr lang="en-US" sz="900" b="1" dirty="0" smtClean="0">
                <a:solidFill>
                  <a:srgbClr val="00B0F0"/>
                </a:solidFill>
              </a:rPr>
              <a:t>[SCORY 2]</a:t>
            </a:r>
            <a:endParaRPr lang="en-US" sz="900" b="1" dirty="0">
              <a:solidFill>
                <a:srgbClr val="00B0F0"/>
              </a:solidFill>
            </a:endParaRPr>
          </a:p>
        </p:txBody>
      </p:sp>
      <p:sp>
        <p:nvSpPr>
          <p:cNvPr id="109" name="TextBox 108"/>
          <p:cNvSpPr txBox="1"/>
          <p:nvPr/>
        </p:nvSpPr>
        <p:spPr>
          <a:xfrm>
            <a:off x="8051328" y="5904361"/>
            <a:ext cx="855372" cy="230832"/>
          </a:xfrm>
          <a:prstGeom prst="rect">
            <a:avLst/>
          </a:prstGeom>
          <a:noFill/>
        </p:spPr>
        <p:txBody>
          <a:bodyPr wrap="square" rtlCol="0">
            <a:spAutoFit/>
          </a:bodyPr>
          <a:lstStyle/>
          <a:p>
            <a:pPr algn="ctr"/>
            <a:r>
              <a:rPr lang="en-US" sz="900" b="1" dirty="0" smtClean="0">
                <a:solidFill>
                  <a:srgbClr val="00B0F0"/>
                </a:solidFill>
              </a:rPr>
              <a:t>[LAJOHN]</a:t>
            </a:r>
            <a:endParaRPr lang="en-US" sz="900" b="1" dirty="0">
              <a:solidFill>
                <a:srgbClr val="00B0F0"/>
              </a:solidFill>
            </a:endParaRPr>
          </a:p>
        </p:txBody>
      </p:sp>
      <p:sp>
        <p:nvSpPr>
          <p:cNvPr id="110" name="TextBox 109"/>
          <p:cNvSpPr txBox="1"/>
          <p:nvPr/>
        </p:nvSpPr>
        <p:spPr>
          <a:xfrm>
            <a:off x="7527926" y="5607048"/>
            <a:ext cx="855372" cy="230832"/>
          </a:xfrm>
          <a:prstGeom prst="rect">
            <a:avLst/>
          </a:prstGeom>
          <a:noFill/>
        </p:spPr>
        <p:txBody>
          <a:bodyPr wrap="square" rtlCol="0">
            <a:spAutoFit/>
          </a:bodyPr>
          <a:lstStyle/>
          <a:p>
            <a:pPr algn="ctr"/>
            <a:r>
              <a:rPr lang="en-US" sz="900" b="1" dirty="0" smtClean="0">
                <a:solidFill>
                  <a:srgbClr val="00B0F0"/>
                </a:solidFill>
              </a:rPr>
              <a:t>[CREATURES]</a:t>
            </a:r>
            <a:endParaRPr lang="en-US" sz="900" b="1" dirty="0">
              <a:solidFill>
                <a:srgbClr val="00B0F0"/>
              </a:solidFill>
            </a:endParaRPr>
          </a:p>
        </p:txBody>
      </p:sp>
      <p:sp>
        <p:nvSpPr>
          <p:cNvPr id="111" name="TextBox 110"/>
          <p:cNvSpPr txBox="1"/>
          <p:nvPr/>
        </p:nvSpPr>
        <p:spPr>
          <a:xfrm>
            <a:off x="7136227" y="6065012"/>
            <a:ext cx="855372" cy="230832"/>
          </a:xfrm>
          <a:prstGeom prst="rect">
            <a:avLst/>
          </a:prstGeom>
          <a:noFill/>
        </p:spPr>
        <p:txBody>
          <a:bodyPr wrap="square" rtlCol="0">
            <a:spAutoFit/>
          </a:bodyPr>
          <a:lstStyle/>
          <a:p>
            <a:pPr algn="ctr"/>
            <a:r>
              <a:rPr lang="en-US" sz="900" b="1" dirty="0" smtClean="0">
                <a:solidFill>
                  <a:srgbClr val="00B0F0"/>
                </a:solidFill>
              </a:rPr>
              <a:t>[ALIENS]</a:t>
            </a:r>
            <a:endParaRPr lang="en-US" sz="900" b="1" dirty="0">
              <a:solidFill>
                <a:srgbClr val="00B0F0"/>
              </a:solidFill>
            </a:endParaRPr>
          </a:p>
        </p:txBody>
      </p:sp>
      <p:sp>
        <p:nvSpPr>
          <p:cNvPr id="112" name="TextBox 111"/>
          <p:cNvSpPr txBox="1"/>
          <p:nvPr/>
        </p:nvSpPr>
        <p:spPr>
          <a:xfrm>
            <a:off x="6552570" y="5916409"/>
            <a:ext cx="855372" cy="230832"/>
          </a:xfrm>
          <a:prstGeom prst="rect">
            <a:avLst/>
          </a:prstGeom>
          <a:noFill/>
        </p:spPr>
        <p:txBody>
          <a:bodyPr wrap="square" rtlCol="0">
            <a:spAutoFit/>
          </a:bodyPr>
          <a:lstStyle/>
          <a:p>
            <a:pPr algn="ctr"/>
            <a:r>
              <a:rPr lang="en-US" sz="900" b="1" dirty="0" smtClean="0">
                <a:solidFill>
                  <a:srgbClr val="00B0F0"/>
                </a:solidFill>
              </a:rPr>
              <a:t>[DEXTER]</a:t>
            </a:r>
            <a:endParaRPr lang="en-US" sz="900" b="1" dirty="0">
              <a:solidFill>
                <a:srgbClr val="00B0F0"/>
              </a:solidFill>
            </a:endParaRPr>
          </a:p>
        </p:txBody>
      </p:sp>
      <p:sp>
        <p:nvSpPr>
          <p:cNvPr id="113" name="TextBox 112"/>
          <p:cNvSpPr txBox="1"/>
          <p:nvPr/>
        </p:nvSpPr>
        <p:spPr>
          <a:xfrm>
            <a:off x="10177448" y="1239129"/>
            <a:ext cx="855372" cy="230832"/>
          </a:xfrm>
          <a:prstGeom prst="rect">
            <a:avLst/>
          </a:prstGeom>
          <a:noFill/>
        </p:spPr>
        <p:txBody>
          <a:bodyPr wrap="square" rtlCol="0">
            <a:spAutoFit/>
          </a:bodyPr>
          <a:lstStyle/>
          <a:p>
            <a:pPr algn="ctr"/>
            <a:r>
              <a:rPr lang="en-US" sz="900" b="1" dirty="0" smtClean="0">
                <a:solidFill>
                  <a:srgbClr val="00B0F0"/>
                </a:solidFill>
              </a:rPr>
              <a:t>[LGBT]</a:t>
            </a:r>
            <a:endParaRPr lang="en-US" sz="900" b="1" dirty="0">
              <a:solidFill>
                <a:srgbClr val="00B0F0"/>
              </a:solidFill>
            </a:endParaRPr>
          </a:p>
        </p:txBody>
      </p:sp>
      <p:sp>
        <p:nvSpPr>
          <p:cNvPr id="114" name="TextBox 113"/>
          <p:cNvSpPr txBox="1"/>
          <p:nvPr/>
        </p:nvSpPr>
        <p:spPr>
          <a:xfrm>
            <a:off x="10584798" y="1671826"/>
            <a:ext cx="855372" cy="230832"/>
          </a:xfrm>
          <a:prstGeom prst="rect">
            <a:avLst/>
          </a:prstGeom>
          <a:noFill/>
        </p:spPr>
        <p:txBody>
          <a:bodyPr wrap="square" rtlCol="0">
            <a:spAutoFit/>
          </a:bodyPr>
          <a:lstStyle/>
          <a:p>
            <a:pPr algn="ctr"/>
            <a:r>
              <a:rPr lang="en-US" sz="900" b="1" dirty="0" smtClean="0">
                <a:solidFill>
                  <a:srgbClr val="00B0F0"/>
                </a:solidFill>
              </a:rPr>
              <a:t>[FASHION]</a:t>
            </a:r>
            <a:endParaRPr lang="en-US" sz="900" b="1" dirty="0">
              <a:solidFill>
                <a:srgbClr val="00B0F0"/>
              </a:solidFill>
            </a:endParaRPr>
          </a:p>
        </p:txBody>
      </p:sp>
      <p:sp>
        <p:nvSpPr>
          <p:cNvPr id="115" name="TextBox 114"/>
          <p:cNvSpPr txBox="1"/>
          <p:nvPr/>
        </p:nvSpPr>
        <p:spPr>
          <a:xfrm>
            <a:off x="10121847" y="2045203"/>
            <a:ext cx="855372" cy="230832"/>
          </a:xfrm>
          <a:prstGeom prst="rect">
            <a:avLst/>
          </a:prstGeom>
          <a:noFill/>
        </p:spPr>
        <p:txBody>
          <a:bodyPr wrap="square" rtlCol="0">
            <a:spAutoFit/>
          </a:bodyPr>
          <a:lstStyle/>
          <a:p>
            <a:pPr algn="ctr"/>
            <a:r>
              <a:rPr lang="en-US" sz="900" b="1" dirty="0" smtClean="0">
                <a:solidFill>
                  <a:srgbClr val="00B0F0"/>
                </a:solidFill>
              </a:rPr>
              <a:t>[FOODIES]</a:t>
            </a:r>
            <a:endParaRPr lang="en-US" sz="900" b="1" dirty="0">
              <a:solidFill>
                <a:srgbClr val="00B0F0"/>
              </a:solidFill>
            </a:endParaRPr>
          </a:p>
        </p:txBody>
      </p:sp>
      <p:sp>
        <p:nvSpPr>
          <p:cNvPr id="116" name="TextBox 115"/>
          <p:cNvSpPr txBox="1"/>
          <p:nvPr/>
        </p:nvSpPr>
        <p:spPr>
          <a:xfrm>
            <a:off x="10549083" y="2588653"/>
            <a:ext cx="855372" cy="369332"/>
          </a:xfrm>
          <a:prstGeom prst="rect">
            <a:avLst/>
          </a:prstGeom>
          <a:noFill/>
        </p:spPr>
        <p:txBody>
          <a:bodyPr wrap="square" rtlCol="0">
            <a:spAutoFit/>
          </a:bodyPr>
          <a:lstStyle/>
          <a:p>
            <a:pPr algn="ctr"/>
            <a:r>
              <a:rPr lang="en-US" sz="900" b="1" dirty="0" smtClean="0">
                <a:solidFill>
                  <a:srgbClr val="00B0F0"/>
                </a:solidFill>
              </a:rPr>
              <a:t>[GILMORE GIRLS]</a:t>
            </a:r>
            <a:endParaRPr lang="en-US" sz="900" b="1" dirty="0">
              <a:solidFill>
                <a:srgbClr val="00B0F0"/>
              </a:solidFill>
            </a:endParaRPr>
          </a:p>
        </p:txBody>
      </p:sp>
      <p:sp>
        <p:nvSpPr>
          <p:cNvPr id="117" name="TextBox 116"/>
          <p:cNvSpPr txBox="1"/>
          <p:nvPr/>
        </p:nvSpPr>
        <p:spPr>
          <a:xfrm>
            <a:off x="10178437" y="3097491"/>
            <a:ext cx="926879" cy="230832"/>
          </a:xfrm>
          <a:prstGeom prst="rect">
            <a:avLst/>
          </a:prstGeom>
          <a:noFill/>
        </p:spPr>
        <p:txBody>
          <a:bodyPr wrap="square" rtlCol="0">
            <a:spAutoFit/>
          </a:bodyPr>
          <a:lstStyle/>
          <a:p>
            <a:pPr algn="ctr"/>
            <a:r>
              <a:rPr lang="en-US" sz="900" b="1" smtClean="0">
                <a:solidFill>
                  <a:srgbClr val="00B0F0"/>
                </a:solidFill>
              </a:rPr>
              <a:t>[DOLLHOUSE]</a:t>
            </a:r>
            <a:endParaRPr lang="en-US" sz="900" b="1" dirty="0">
              <a:solidFill>
                <a:srgbClr val="00B0F0"/>
              </a:solidFill>
            </a:endParaRPr>
          </a:p>
        </p:txBody>
      </p:sp>
      <p:sp>
        <p:nvSpPr>
          <p:cNvPr id="118" name="TextBox 117"/>
          <p:cNvSpPr txBox="1"/>
          <p:nvPr/>
        </p:nvSpPr>
        <p:spPr>
          <a:xfrm>
            <a:off x="10583117" y="3555101"/>
            <a:ext cx="855372" cy="369332"/>
          </a:xfrm>
          <a:prstGeom prst="rect">
            <a:avLst/>
          </a:prstGeom>
          <a:noFill/>
        </p:spPr>
        <p:txBody>
          <a:bodyPr wrap="square" rtlCol="0">
            <a:spAutoFit/>
          </a:bodyPr>
          <a:lstStyle/>
          <a:p>
            <a:pPr algn="ctr"/>
            <a:r>
              <a:rPr lang="en-US" sz="900" b="1" smtClean="0">
                <a:solidFill>
                  <a:srgbClr val="00B0F0"/>
                </a:solidFill>
              </a:rPr>
              <a:t>[BIG BROTHER]</a:t>
            </a:r>
            <a:endParaRPr lang="en-US" sz="900" b="1" dirty="0">
              <a:solidFill>
                <a:srgbClr val="00B0F0"/>
              </a:solidFill>
            </a:endParaRPr>
          </a:p>
        </p:txBody>
      </p:sp>
      <p:sp>
        <p:nvSpPr>
          <p:cNvPr id="119" name="TextBox 118"/>
          <p:cNvSpPr txBox="1"/>
          <p:nvPr/>
        </p:nvSpPr>
        <p:spPr>
          <a:xfrm>
            <a:off x="10346295" y="4182769"/>
            <a:ext cx="855372" cy="230832"/>
          </a:xfrm>
          <a:prstGeom prst="rect">
            <a:avLst/>
          </a:prstGeom>
          <a:noFill/>
        </p:spPr>
        <p:txBody>
          <a:bodyPr wrap="square" rtlCol="0">
            <a:spAutoFit/>
          </a:bodyPr>
          <a:lstStyle/>
          <a:p>
            <a:pPr algn="ctr"/>
            <a:r>
              <a:rPr lang="en-US" sz="900" b="1" dirty="0" smtClean="0">
                <a:solidFill>
                  <a:srgbClr val="00B0F0"/>
                </a:solidFill>
              </a:rPr>
              <a:t>[TWATA]</a:t>
            </a:r>
            <a:endParaRPr lang="en-US" sz="900" b="1" dirty="0">
              <a:solidFill>
                <a:srgbClr val="00B0F0"/>
              </a:solidFill>
            </a:endParaRPr>
          </a:p>
        </p:txBody>
      </p:sp>
      <p:sp>
        <p:nvSpPr>
          <p:cNvPr id="120" name="TextBox 119"/>
          <p:cNvSpPr txBox="1"/>
          <p:nvPr/>
        </p:nvSpPr>
        <p:spPr>
          <a:xfrm>
            <a:off x="10686737" y="4728652"/>
            <a:ext cx="923076" cy="230832"/>
          </a:xfrm>
          <a:prstGeom prst="rect">
            <a:avLst/>
          </a:prstGeom>
          <a:noFill/>
        </p:spPr>
        <p:txBody>
          <a:bodyPr wrap="square" rtlCol="0">
            <a:spAutoFit/>
          </a:bodyPr>
          <a:lstStyle/>
          <a:p>
            <a:pPr algn="ctr"/>
            <a:r>
              <a:rPr lang="en-US" sz="900" b="1" smtClean="0">
                <a:solidFill>
                  <a:srgbClr val="00B0F0"/>
                </a:solidFill>
              </a:rPr>
              <a:t>[FASHBOARD]</a:t>
            </a:r>
            <a:endParaRPr lang="en-US" sz="900" b="1" dirty="0">
              <a:solidFill>
                <a:srgbClr val="00B0F0"/>
              </a:solidFill>
            </a:endParaRPr>
          </a:p>
        </p:txBody>
      </p:sp>
      <p:sp>
        <p:nvSpPr>
          <p:cNvPr id="121" name="TextBox 120"/>
          <p:cNvSpPr txBox="1"/>
          <p:nvPr/>
        </p:nvSpPr>
        <p:spPr>
          <a:xfrm>
            <a:off x="10244041" y="5049776"/>
            <a:ext cx="855372" cy="369332"/>
          </a:xfrm>
          <a:prstGeom prst="rect">
            <a:avLst/>
          </a:prstGeom>
          <a:noFill/>
        </p:spPr>
        <p:txBody>
          <a:bodyPr wrap="square" rtlCol="0">
            <a:spAutoFit/>
          </a:bodyPr>
          <a:lstStyle/>
          <a:p>
            <a:pPr algn="ctr"/>
            <a:r>
              <a:rPr lang="en-US" sz="900" b="1" smtClean="0">
                <a:solidFill>
                  <a:srgbClr val="00B0F0"/>
                </a:solidFill>
              </a:rPr>
              <a:t>[MENTAL HEALTH]</a:t>
            </a:r>
            <a:endParaRPr lang="en-US" sz="900" b="1" dirty="0">
              <a:solidFill>
                <a:srgbClr val="00B0F0"/>
              </a:solidFill>
            </a:endParaRPr>
          </a:p>
        </p:txBody>
      </p:sp>
      <p:sp>
        <p:nvSpPr>
          <p:cNvPr id="123" name="Rounded Rectangle 122"/>
          <p:cNvSpPr/>
          <p:nvPr/>
        </p:nvSpPr>
        <p:spPr>
          <a:xfrm>
            <a:off x="9647463" y="403454"/>
            <a:ext cx="2148128" cy="262703"/>
          </a:xfrm>
          <a:prstGeom prst="roundRect">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smtClean="0">
                <a:solidFill>
                  <a:srgbClr val="00B0F0"/>
                </a:solidFill>
                <a:latin typeface="Andale Mono" charset="0"/>
                <a:ea typeface="Andale Mono" charset="0"/>
                <a:cs typeface="Andale Mono" charset="0"/>
              </a:rPr>
              <a:t>PROJECTS</a:t>
            </a:r>
            <a:endParaRPr lang="en-US" sz="900" dirty="0">
              <a:solidFill>
                <a:srgbClr val="00B0F0"/>
              </a:solidFill>
              <a:latin typeface="Andale Mono" charset="0"/>
              <a:ea typeface="Andale Mono" charset="0"/>
              <a:cs typeface="Andale Mono" charset="0"/>
            </a:endParaRPr>
          </a:p>
        </p:txBody>
      </p:sp>
      <p:sp>
        <p:nvSpPr>
          <p:cNvPr id="125" name="Hexagon 124"/>
          <p:cNvSpPr>
            <a:spLocks noChangeAspect="1"/>
          </p:cNvSpPr>
          <p:nvPr/>
        </p:nvSpPr>
        <p:spPr>
          <a:xfrm>
            <a:off x="6152320" y="529727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126" name="TextBox 125"/>
          <p:cNvSpPr txBox="1"/>
          <p:nvPr/>
        </p:nvSpPr>
        <p:spPr>
          <a:xfrm>
            <a:off x="6110332" y="5522047"/>
            <a:ext cx="855372" cy="230832"/>
          </a:xfrm>
          <a:prstGeom prst="rect">
            <a:avLst/>
          </a:prstGeom>
          <a:noFill/>
        </p:spPr>
        <p:txBody>
          <a:bodyPr wrap="square" rtlCol="0">
            <a:spAutoFit/>
          </a:bodyPr>
          <a:lstStyle/>
          <a:p>
            <a:pPr algn="ctr"/>
            <a:r>
              <a:rPr lang="en-US" sz="900" b="1" dirty="0" smtClean="0">
                <a:solidFill>
                  <a:srgbClr val="00B0F0"/>
                </a:solidFill>
              </a:rPr>
              <a:t>[L.T.C.]</a:t>
            </a:r>
            <a:endParaRPr lang="en-US" sz="900" b="1" dirty="0">
              <a:solidFill>
                <a:srgbClr val="00B0F0"/>
              </a:solidFill>
            </a:endParaRPr>
          </a:p>
        </p:txBody>
      </p:sp>
      <p:sp>
        <p:nvSpPr>
          <p:cNvPr id="127" name="Hexagon 126"/>
          <p:cNvSpPr>
            <a:spLocks noChangeAspect="1"/>
          </p:cNvSpPr>
          <p:nvPr/>
        </p:nvSpPr>
        <p:spPr>
          <a:xfrm>
            <a:off x="9451199" y="5006861"/>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128" name="TextBox 127"/>
          <p:cNvSpPr txBox="1"/>
          <p:nvPr/>
        </p:nvSpPr>
        <p:spPr>
          <a:xfrm>
            <a:off x="9409211" y="5231629"/>
            <a:ext cx="855372" cy="230832"/>
          </a:xfrm>
          <a:prstGeom prst="rect">
            <a:avLst/>
          </a:prstGeom>
          <a:noFill/>
        </p:spPr>
        <p:txBody>
          <a:bodyPr wrap="square" rtlCol="0">
            <a:spAutoFit/>
          </a:bodyPr>
          <a:lstStyle/>
          <a:p>
            <a:pPr algn="ctr"/>
            <a:r>
              <a:rPr lang="en-US" sz="900" b="1" dirty="0" smtClean="0">
                <a:solidFill>
                  <a:srgbClr val="00B0F0"/>
                </a:solidFill>
              </a:rPr>
              <a:t>[RAILROAD]</a:t>
            </a:r>
            <a:endParaRPr lang="en-US" sz="900" b="1" dirty="0">
              <a:solidFill>
                <a:srgbClr val="00B0F0"/>
              </a:solidFill>
            </a:endParaRPr>
          </a:p>
        </p:txBody>
      </p:sp>
      <p:sp>
        <p:nvSpPr>
          <p:cNvPr id="129" name="Hexagon 128"/>
          <p:cNvSpPr>
            <a:spLocks noChangeAspect="1"/>
          </p:cNvSpPr>
          <p:nvPr/>
        </p:nvSpPr>
        <p:spPr>
          <a:xfrm>
            <a:off x="5749092" y="5735849"/>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130" name="TextBox 129"/>
          <p:cNvSpPr txBox="1"/>
          <p:nvPr/>
        </p:nvSpPr>
        <p:spPr>
          <a:xfrm>
            <a:off x="5707104" y="5960617"/>
            <a:ext cx="855372" cy="230832"/>
          </a:xfrm>
          <a:prstGeom prst="rect">
            <a:avLst/>
          </a:prstGeom>
          <a:noFill/>
        </p:spPr>
        <p:txBody>
          <a:bodyPr wrap="square" rtlCol="0">
            <a:spAutoFit/>
          </a:bodyPr>
          <a:lstStyle/>
          <a:p>
            <a:pPr algn="ctr"/>
            <a:r>
              <a:rPr lang="en-US" sz="900" b="1" dirty="0" smtClean="0">
                <a:solidFill>
                  <a:srgbClr val="00B0F0"/>
                </a:solidFill>
              </a:rPr>
              <a:t>[SENT POP]</a:t>
            </a:r>
            <a:endParaRPr lang="en-US" sz="900" b="1" dirty="0">
              <a:solidFill>
                <a:srgbClr val="00B0F0"/>
              </a:solidFill>
            </a:endParaRPr>
          </a:p>
        </p:txBody>
      </p:sp>
      <p:sp>
        <p:nvSpPr>
          <p:cNvPr id="131" name="Hexagon 130"/>
          <p:cNvSpPr>
            <a:spLocks noChangeAspect="1"/>
          </p:cNvSpPr>
          <p:nvPr/>
        </p:nvSpPr>
        <p:spPr>
          <a:xfrm>
            <a:off x="5214531" y="5472994"/>
            <a:ext cx="747646" cy="654284"/>
          </a:xfrm>
          <a:prstGeom prst="hexagon">
            <a:avLst/>
          </a:prstGeom>
          <a:solidFill>
            <a:srgbClr val="00ACD1">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solidFill>
                <a:srgbClr val="00B0F0"/>
              </a:solidFill>
            </a:endParaRPr>
          </a:p>
        </p:txBody>
      </p:sp>
      <p:sp>
        <p:nvSpPr>
          <p:cNvPr id="132" name="TextBox 131"/>
          <p:cNvSpPr txBox="1"/>
          <p:nvPr/>
        </p:nvSpPr>
        <p:spPr>
          <a:xfrm>
            <a:off x="5172543" y="5697762"/>
            <a:ext cx="855372" cy="230832"/>
          </a:xfrm>
          <a:prstGeom prst="rect">
            <a:avLst/>
          </a:prstGeom>
          <a:noFill/>
        </p:spPr>
        <p:txBody>
          <a:bodyPr wrap="square" rtlCol="0">
            <a:spAutoFit/>
          </a:bodyPr>
          <a:lstStyle/>
          <a:p>
            <a:pPr algn="ctr"/>
            <a:r>
              <a:rPr lang="en-US" sz="900" b="1" dirty="0" smtClean="0">
                <a:solidFill>
                  <a:srgbClr val="00B0F0"/>
                </a:solidFill>
              </a:rPr>
              <a:t>[CLUSTR]</a:t>
            </a:r>
            <a:endParaRPr lang="en-US" sz="900" b="1" dirty="0">
              <a:solidFill>
                <a:srgbClr val="00B0F0"/>
              </a:solidFill>
            </a:endParaRPr>
          </a:p>
        </p:txBody>
      </p:sp>
    </p:spTree>
    <p:extLst>
      <p:ext uri="{BB962C8B-B14F-4D97-AF65-F5344CB8AC3E}">
        <p14:creationId xmlns:p14="http://schemas.microsoft.com/office/powerpoint/2010/main" val="24849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6" name="Merge 25"/>
          <p:cNvSpPr/>
          <p:nvPr/>
        </p:nvSpPr>
        <p:spPr>
          <a:xfrm rot="16200000">
            <a:off x="1805756" y="3276317"/>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8" name="TextBox 27"/>
          <p:cNvSpPr txBox="1"/>
          <p:nvPr/>
        </p:nvSpPr>
        <p:spPr>
          <a:xfrm>
            <a:off x="65813" y="3188728"/>
            <a:ext cx="1490764" cy="369332"/>
          </a:xfrm>
          <a:prstGeom prst="rect">
            <a:avLst/>
          </a:prstGeom>
          <a:noFill/>
        </p:spPr>
        <p:txBody>
          <a:bodyPr wrap="square" rtlCol="0">
            <a:spAutoFit/>
          </a:bodyPr>
          <a:lstStyle/>
          <a:p>
            <a:pPr algn="ctr"/>
            <a:r>
              <a:rPr lang="en-US" b="1" smtClean="0">
                <a:latin typeface="Courier New" charset="0"/>
                <a:ea typeface="Courier New" charset="0"/>
                <a:cs typeface="Courier New" charset="0"/>
              </a:rPr>
              <a:t>ABOUT ME</a:t>
            </a:r>
            <a:endParaRPr lang="en-US" b="1" dirty="0">
              <a:latin typeface="Courier New" charset="0"/>
              <a:ea typeface="Courier New" charset="0"/>
              <a:cs typeface="Courier New" charset="0"/>
            </a:endParaRPr>
          </a:p>
        </p:txBody>
      </p:sp>
      <p:sp>
        <p:nvSpPr>
          <p:cNvPr id="22" name="Left Brace 21"/>
          <p:cNvSpPr/>
          <p:nvPr/>
        </p:nvSpPr>
        <p:spPr>
          <a:xfrm>
            <a:off x="2842071" y="2028630"/>
            <a:ext cx="293914" cy="268952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Rectangle 39"/>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a:spLocks noChangeAspect="1"/>
          </p:cNvSpPr>
          <p:nvPr/>
        </p:nvSpPr>
        <p:spPr>
          <a:xfrm>
            <a:off x="1196577" y="550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a:spLocks noChangeAspect="1"/>
          </p:cNvSpPr>
          <p:nvPr/>
        </p:nvSpPr>
        <p:spPr>
          <a:xfrm>
            <a:off x="1749324" y="490769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a:spLocks noChangeAspect="1"/>
          </p:cNvSpPr>
          <p:nvPr/>
        </p:nvSpPr>
        <p:spPr>
          <a:xfrm>
            <a:off x="451195" y="586101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44" name="Picture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51" name="Picture 5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53" name="Picture 5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54" name="Picture 5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
        <p:nvSpPr>
          <p:cNvPr id="55" name="Oval 54"/>
          <p:cNvSpPr>
            <a:spLocks noChangeAspect="1"/>
          </p:cNvSpPr>
          <p:nvPr/>
        </p:nvSpPr>
        <p:spPr>
          <a:xfrm rot="16200000">
            <a:off x="3120070" y="3259576"/>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6" name="Oval 55"/>
          <p:cNvSpPr>
            <a:spLocks noChangeAspect="1"/>
          </p:cNvSpPr>
          <p:nvPr/>
        </p:nvSpPr>
        <p:spPr>
          <a:xfrm rot="16200000">
            <a:off x="3120070" y="3808794"/>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7" name="Oval 56"/>
          <p:cNvSpPr>
            <a:spLocks noChangeAspect="1"/>
          </p:cNvSpPr>
          <p:nvPr/>
        </p:nvSpPr>
        <p:spPr>
          <a:xfrm rot="16200000">
            <a:off x="3120070" y="2710358"/>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58" name="TextBox 57"/>
          <p:cNvSpPr txBox="1"/>
          <p:nvPr/>
        </p:nvSpPr>
        <p:spPr>
          <a:xfrm>
            <a:off x="3294929" y="2659287"/>
            <a:ext cx="1188000" cy="252000"/>
          </a:xfrm>
          <a:prstGeom prst="rect">
            <a:avLst/>
          </a:prstGeom>
          <a:noFill/>
        </p:spPr>
        <p:txBody>
          <a:bodyPr wrap="none" rtlCol="0">
            <a:spAutoFit/>
          </a:bodyPr>
          <a:lstStyle/>
          <a:p>
            <a:r>
              <a:rPr lang="en-US" sz="1200" dirty="0" smtClean="0"/>
              <a:t>Who I Am</a:t>
            </a:r>
            <a:endParaRPr lang="en-US" sz="1200" dirty="0"/>
          </a:p>
        </p:txBody>
      </p:sp>
      <p:sp>
        <p:nvSpPr>
          <p:cNvPr id="59" name="TextBox 58"/>
          <p:cNvSpPr txBox="1"/>
          <p:nvPr/>
        </p:nvSpPr>
        <p:spPr>
          <a:xfrm>
            <a:off x="3294929" y="3206116"/>
            <a:ext cx="1188000" cy="252000"/>
          </a:xfrm>
          <a:prstGeom prst="rect">
            <a:avLst/>
          </a:prstGeom>
          <a:noFill/>
        </p:spPr>
        <p:txBody>
          <a:bodyPr wrap="none" rtlCol="0">
            <a:spAutoFit/>
          </a:bodyPr>
          <a:lstStyle/>
          <a:p>
            <a:r>
              <a:rPr lang="en-US" sz="1200" dirty="0" smtClean="0"/>
              <a:t>Education</a:t>
            </a:r>
            <a:endParaRPr lang="en-US" sz="1200" dirty="0"/>
          </a:p>
        </p:txBody>
      </p:sp>
      <p:sp>
        <p:nvSpPr>
          <p:cNvPr id="60" name="TextBox 59"/>
          <p:cNvSpPr txBox="1"/>
          <p:nvPr/>
        </p:nvSpPr>
        <p:spPr>
          <a:xfrm>
            <a:off x="3294930" y="3762334"/>
            <a:ext cx="1188000" cy="252000"/>
          </a:xfrm>
          <a:prstGeom prst="rect">
            <a:avLst/>
          </a:prstGeom>
          <a:noFill/>
        </p:spPr>
        <p:txBody>
          <a:bodyPr wrap="none" rtlCol="0">
            <a:spAutoFit/>
          </a:bodyPr>
          <a:lstStyle/>
          <a:p>
            <a:r>
              <a:rPr lang="en-US" sz="1200" dirty="0" smtClean="0"/>
              <a:t>Tech Stack</a:t>
            </a:r>
            <a:endParaRPr lang="en-US" sz="1200" dirty="0"/>
          </a:p>
        </p:txBody>
      </p:sp>
      <p:pic>
        <p:nvPicPr>
          <p:cNvPr id="61" name="Picture 60"/>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3163240" y="3357081"/>
            <a:ext cx="214145" cy="271849"/>
          </a:xfrm>
          <a:prstGeom prst="rect">
            <a:avLst/>
          </a:prstGeom>
        </p:spPr>
      </p:pic>
    </p:spTree>
    <p:extLst>
      <p:ext uri="{BB962C8B-B14F-4D97-AF65-F5344CB8AC3E}">
        <p14:creationId xmlns:p14="http://schemas.microsoft.com/office/powerpoint/2010/main" val="116303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a:spLocks noChangeAspect="1"/>
          </p:cNvSpPr>
          <p:nvPr/>
        </p:nvSpPr>
        <p:spPr>
          <a:xfrm>
            <a:off x="1236017" y="568101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a:spLocks noChangeAspect="1"/>
          </p:cNvSpPr>
          <p:nvPr/>
        </p:nvSpPr>
        <p:spPr>
          <a:xfrm>
            <a:off x="1900046" y="506626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a:spLocks noChangeAspect="1"/>
          </p:cNvSpPr>
          <p:nvPr/>
        </p:nvSpPr>
        <p:spPr>
          <a:xfrm>
            <a:off x="2093186" y="2121958"/>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erge 25"/>
          <p:cNvSpPr/>
          <p:nvPr/>
        </p:nvSpPr>
        <p:spPr>
          <a:xfrm rot="16200000">
            <a:off x="1805756" y="3276316"/>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813" y="3188728"/>
            <a:ext cx="1490764" cy="369332"/>
          </a:xfrm>
          <a:prstGeom prst="rect">
            <a:avLst/>
          </a:prstGeom>
          <a:noFill/>
        </p:spPr>
        <p:txBody>
          <a:bodyPr wrap="square" rtlCol="0">
            <a:spAutoFit/>
          </a:bodyPr>
          <a:lstStyle/>
          <a:p>
            <a:pPr algn="ctr"/>
            <a:r>
              <a:rPr lang="en-US" b="1" dirty="0" smtClean="0">
                <a:latin typeface="Courier New" charset="0"/>
                <a:ea typeface="Courier New" charset="0"/>
                <a:cs typeface="Courier New" charset="0"/>
              </a:rPr>
              <a:t>BLOG</a:t>
            </a:r>
            <a:endParaRPr lang="en-US" b="1" dirty="0">
              <a:latin typeface="Courier New" charset="0"/>
              <a:ea typeface="Courier New" charset="0"/>
              <a:cs typeface="Courier New" charset="0"/>
            </a:endParaRPr>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sp>
        <p:nvSpPr>
          <p:cNvPr id="17" name="Oval 16"/>
          <p:cNvSpPr>
            <a:spLocks noChangeAspect="1"/>
          </p:cNvSpPr>
          <p:nvPr/>
        </p:nvSpPr>
        <p:spPr>
          <a:xfrm rot="16200000">
            <a:off x="3095759" y="3614537"/>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18" name="Oval 17"/>
          <p:cNvSpPr>
            <a:spLocks noChangeAspect="1"/>
          </p:cNvSpPr>
          <p:nvPr/>
        </p:nvSpPr>
        <p:spPr>
          <a:xfrm rot="16200000">
            <a:off x="3095759" y="4163755"/>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19" name="Oval 18"/>
          <p:cNvSpPr>
            <a:spLocks noChangeAspect="1"/>
          </p:cNvSpPr>
          <p:nvPr/>
        </p:nvSpPr>
        <p:spPr>
          <a:xfrm rot="16200000">
            <a:off x="3095759" y="3065319"/>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0" name="Oval 19"/>
          <p:cNvSpPr>
            <a:spLocks noChangeAspect="1"/>
          </p:cNvSpPr>
          <p:nvPr/>
        </p:nvSpPr>
        <p:spPr>
          <a:xfrm rot="16200000">
            <a:off x="3095758" y="2516100"/>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1" name="Left Brace 20"/>
          <p:cNvSpPr/>
          <p:nvPr/>
        </p:nvSpPr>
        <p:spPr>
          <a:xfrm>
            <a:off x="2842071" y="765810"/>
            <a:ext cx="293914" cy="587489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3270618" y="2458030"/>
            <a:ext cx="761812" cy="276999"/>
          </a:xfrm>
          <a:prstGeom prst="rect">
            <a:avLst/>
          </a:prstGeom>
          <a:noFill/>
        </p:spPr>
        <p:txBody>
          <a:bodyPr wrap="none" rtlCol="0">
            <a:spAutoFit/>
          </a:bodyPr>
          <a:lstStyle/>
          <a:p>
            <a:r>
              <a:rPr lang="en-US" sz="1200" dirty="0" smtClean="0"/>
              <a:t>Blog Post</a:t>
            </a:r>
            <a:endParaRPr lang="en-US" sz="1200" dirty="0"/>
          </a:p>
        </p:txBody>
      </p:sp>
      <p:sp>
        <p:nvSpPr>
          <p:cNvPr id="23" name="TextBox 22"/>
          <p:cNvSpPr txBox="1"/>
          <p:nvPr/>
        </p:nvSpPr>
        <p:spPr>
          <a:xfrm>
            <a:off x="3270618" y="3014248"/>
            <a:ext cx="761812" cy="276999"/>
          </a:xfrm>
          <a:prstGeom prst="rect">
            <a:avLst/>
          </a:prstGeom>
          <a:noFill/>
        </p:spPr>
        <p:txBody>
          <a:bodyPr wrap="none" rtlCol="0">
            <a:spAutoFit/>
          </a:bodyPr>
          <a:lstStyle/>
          <a:p>
            <a:r>
              <a:rPr lang="en-US" sz="1200" dirty="0" smtClean="0"/>
              <a:t>Blog Post</a:t>
            </a:r>
            <a:endParaRPr lang="en-US" sz="1200" dirty="0"/>
          </a:p>
        </p:txBody>
      </p:sp>
      <p:sp>
        <p:nvSpPr>
          <p:cNvPr id="24" name="TextBox 23"/>
          <p:cNvSpPr txBox="1"/>
          <p:nvPr/>
        </p:nvSpPr>
        <p:spPr>
          <a:xfrm>
            <a:off x="3270618" y="3561077"/>
            <a:ext cx="761812" cy="276999"/>
          </a:xfrm>
          <a:prstGeom prst="rect">
            <a:avLst/>
          </a:prstGeom>
          <a:noFill/>
        </p:spPr>
        <p:txBody>
          <a:bodyPr wrap="none" rtlCol="0">
            <a:spAutoFit/>
          </a:bodyPr>
          <a:lstStyle/>
          <a:p>
            <a:r>
              <a:rPr lang="en-US" sz="1200" dirty="0" smtClean="0"/>
              <a:t>Blog Post</a:t>
            </a:r>
            <a:endParaRPr lang="en-US" sz="1200" dirty="0"/>
          </a:p>
        </p:txBody>
      </p:sp>
      <p:sp>
        <p:nvSpPr>
          <p:cNvPr id="25" name="TextBox 24"/>
          <p:cNvSpPr txBox="1"/>
          <p:nvPr/>
        </p:nvSpPr>
        <p:spPr>
          <a:xfrm>
            <a:off x="3270619" y="4117295"/>
            <a:ext cx="761812" cy="276999"/>
          </a:xfrm>
          <a:prstGeom prst="rect">
            <a:avLst/>
          </a:prstGeom>
          <a:noFill/>
        </p:spPr>
        <p:txBody>
          <a:bodyPr wrap="none" rtlCol="0">
            <a:spAutoFit/>
          </a:bodyPr>
          <a:lstStyle/>
          <a:p>
            <a:r>
              <a:rPr lang="en-US" sz="1200" dirty="0" smtClean="0"/>
              <a:t>Blog Post</a:t>
            </a:r>
            <a:endParaRPr lang="en-US" sz="1200" dirty="0"/>
          </a:p>
        </p:txBody>
      </p:sp>
      <p:sp>
        <p:nvSpPr>
          <p:cNvPr id="27" name="Rectangle 26"/>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a:spLocks noChangeAspect="1"/>
          </p:cNvSpPr>
          <p:nvPr/>
        </p:nvSpPr>
        <p:spPr>
          <a:xfrm rot="16200000">
            <a:off x="3095759" y="5771953"/>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29" name="Oval 28"/>
          <p:cNvSpPr>
            <a:spLocks noChangeAspect="1"/>
          </p:cNvSpPr>
          <p:nvPr/>
        </p:nvSpPr>
        <p:spPr>
          <a:xfrm rot="16200000">
            <a:off x="3095759" y="6321171"/>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0" name="Oval 29"/>
          <p:cNvSpPr>
            <a:spLocks noChangeAspect="1"/>
          </p:cNvSpPr>
          <p:nvPr/>
        </p:nvSpPr>
        <p:spPr>
          <a:xfrm rot="16200000">
            <a:off x="3095759" y="5222735"/>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1" name="Oval 30"/>
          <p:cNvSpPr>
            <a:spLocks noChangeAspect="1"/>
          </p:cNvSpPr>
          <p:nvPr/>
        </p:nvSpPr>
        <p:spPr>
          <a:xfrm rot="16200000">
            <a:off x="3095758" y="4673516"/>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2" name="TextBox 31"/>
          <p:cNvSpPr txBox="1"/>
          <p:nvPr/>
        </p:nvSpPr>
        <p:spPr>
          <a:xfrm>
            <a:off x="3270618" y="4615446"/>
            <a:ext cx="761812" cy="276999"/>
          </a:xfrm>
          <a:prstGeom prst="rect">
            <a:avLst/>
          </a:prstGeom>
          <a:noFill/>
        </p:spPr>
        <p:txBody>
          <a:bodyPr wrap="none" rtlCol="0">
            <a:spAutoFit/>
          </a:bodyPr>
          <a:lstStyle/>
          <a:p>
            <a:r>
              <a:rPr lang="en-US" sz="1200" dirty="0" smtClean="0"/>
              <a:t>Blog Post</a:t>
            </a:r>
            <a:endParaRPr lang="en-US" sz="1200" dirty="0"/>
          </a:p>
        </p:txBody>
      </p:sp>
      <p:sp>
        <p:nvSpPr>
          <p:cNvPr id="33" name="TextBox 32"/>
          <p:cNvSpPr txBox="1"/>
          <p:nvPr/>
        </p:nvSpPr>
        <p:spPr>
          <a:xfrm>
            <a:off x="3270618" y="5171664"/>
            <a:ext cx="761812" cy="276999"/>
          </a:xfrm>
          <a:prstGeom prst="rect">
            <a:avLst/>
          </a:prstGeom>
          <a:noFill/>
        </p:spPr>
        <p:txBody>
          <a:bodyPr wrap="none" rtlCol="0">
            <a:spAutoFit/>
          </a:bodyPr>
          <a:lstStyle/>
          <a:p>
            <a:r>
              <a:rPr lang="en-US" sz="1200" dirty="0" smtClean="0"/>
              <a:t>Blog Post</a:t>
            </a:r>
            <a:endParaRPr lang="en-US" sz="1200" dirty="0"/>
          </a:p>
        </p:txBody>
      </p:sp>
      <p:sp>
        <p:nvSpPr>
          <p:cNvPr id="34" name="TextBox 33"/>
          <p:cNvSpPr txBox="1"/>
          <p:nvPr/>
        </p:nvSpPr>
        <p:spPr>
          <a:xfrm>
            <a:off x="3270618" y="5718493"/>
            <a:ext cx="761812" cy="276999"/>
          </a:xfrm>
          <a:prstGeom prst="rect">
            <a:avLst/>
          </a:prstGeom>
          <a:noFill/>
        </p:spPr>
        <p:txBody>
          <a:bodyPr wrap="none" rtlCol="0">
            <a:spAutoFit/>
          </a:bodyPr>
          <a:lstStyle/>
          <a:p>
            <a:r>
              <a:rPr lang="en-US" sz="1200" dirty="0" smtClean="0"/>
              <a:t>Blog Post</a:t>
            </a:r>
            <a:endParaRPr lang="en-US" sz="1200" dirty="0"/>
          </a:p>
        </p:txBody>
      </p:sp>
      <p:sp>
        <p:nvSpPr>
          <p:cNvPr id="35" name="TextBox 34"/>
          <p:cNvSpPr txBox="1"/>
          <p:nvPr/>
        </p:nvSpPr>
        <p:spPr>
          <a:xfrm>
            <a:off x="3270619" y="6274711"/>
            <a:ext cx="761812" cy="276999"/>
          </a:xfrm>
          <a:prstGeom prst="rect">
            <a:avLst/>
          </a:prstGeom>
          <a:noFill/>
        </p:spPr>
        <p:txBody>
          <a:bodyPr wrap="none" rtlCol="0">
            <a:spAutoFit/>
          </a:bodyPr>
          <a:lstStyle/>
          <a:p>
            <a:r>
              <a:rPr lang="en-US" sz="1200" dirty="0" smtClean="0"/>
              <a:t>Blog Post</a:t>
            </a:r>
            <a:endParaRPr lang="en-US" sz="1200" dirty="0"/>
          </a:p>
        </p:txBody>
      </p:sp>
      <p:sp>
        <p:nvSpPr>
          <p:cNvPr id="36" name="Oval 35"/>
          <p:cNvSpPr>
            <a:spLocks noChangeAspect="1"/>
          </p:cNvSpPr>
          <p:nvPr/>
        </p:nvSpPr>
        <p:spPr>
          <a:xfrm rot="16200000">
            <a:off x="3095759" y="1468412"/>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7" name="Oval 36"/>
          <p:cNvSpPr>
            <a:spLocks noChangeAspect="1"/>
          </p:cNvSpPr>
          <p:nvPr/>
        </p:nvSpPr>
        <p:spPr>
          <a:xfrm rot="16200000">
            <a:off x="3095759" y="2017630"/>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38" name="Oval 37"/>
          <p:cNvSpPr>
            <a:spLocks noChangeAspect="1"/>
          </p:cNvSpPr>
          <p:nvPr/>
        </p:nvSpPr>
        <p:spPr>
          <a:xfrm rot="16200000">
            <a:off x="3095759" y="919194"/>
            <a:ext cx="174861" cy="174861"/>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urier New" charset="0"/>
              <a:ea typeface="Courier New" charset="0"/>
              <a:cs typeface="Courier New" charset="0"/>
            </a:endParaRPr>
          </a:p>
        </p:txBody>
      </p:sp>
      <p:sp>
        <p:nvSpPr>
          <p:cNvPr id="41" name="TextBox 40"/>
          <p:cNvSpPr txBox="1"/>
          <p:nvPr/>
        </p:nvSpPr>
        <p:spPr>
          <a:xfrm>
            <a:off x="3270618" y="868123"/>
            <a:ext cx="761812" cy="276999"/>
          </a:xfrm>
          <a:prstGeom prst="rect">
            <a:avLst/>
          </a:prstGeom>
          <a:noFill/>
        </p:spPr>
        <p:txBody>
          <a:bodyPr wrap="none" rtlCol="0">
            <a:spAutoFit/>
          </a:bodyPr>
          <a:lstStyle/>
          <a:p>
            <a:r>
              <a:rPr lang="en-US" sz="1200" dirty="0" smtClean="0"/>
              <a:t>Blog Post</a:t>
            </a:r>
            <a:endParaRPr lang="en-US" sz="1200" dirty="0"/>
          </a:p>
        </p:txBody>
      </p:sp>
      <p:sp>
        <p:nvSpPr>
          <p:cNvPr id="42" name="TextBox 41"/>
          <p:cNvSpPr txBox="1"/>
          <p:nvPr/>
        </p:nvSpPr>
        <p:spPr>
          <a:xfrm>
            <a:off x="3270618" y="1414952"/>
            <a:ext cx="761812" cy="276999"/>
          </a:xfrm>
          <a:prstGeom prst="rect">
            <a:avLst/>
          </a:prstGeom>
          <a:noFill/>
        </p:spPr>
        <p:txBody>
          <a:bodyPr wrap="none" rtlCol="0">
            <a:spAutoFit/>
          </a:bodyPr>
          <a:lstStyle/>
          <a:p>
            <a:r>
              <a:rPr lang="en-US" sz="1200" dirty="0" smtClean="0"/>
              <a:t>Blog Post</a:t>
            </a:r>
            <a:endParaRPr lang="en-US" sz="1200" dirty="0"/>
          </a:p>
        </p:txBody>
      </p:sp>
      <p:sp>
        <p:nvSpPr>
          <p:cNvPr id="43" name="TextBox 42"/>
          <p:cNvSpPr txBox="1"/>
          <p:nvPr/>
        </p:nvSpPr>
        <p:spPr>
          <a:xfrm>
            <a:off x="3270619" y="1971170"/>
            <a:ext cx="761812" cy="276999"/>
          </a:xfrm>
          <a:prstGeom prst="rect">
            <a:avLst/>
          </a:prstGeom>
          <a:noFill/>
        </p:spPr>
        <p:txBody>
          <a:bodyPr wrap="none" rtlCol="0">
            <a:spAutoFit/>
          </a:bodyPr>
          <a:lstStyle/>
          <a:p>
            <a:r>
              <a:rPr lang="en-US" sz="1200" dirty="0" smtClean="0"/>
              <a:t>Blog Post</a:t>
            </a:r>
            <a:endParaRPr lang="en-US" sz="1200" dirty="0"/>
          </a:p>
        </p:txBody>
      </p:sp>
      <p:pic>
        <p:nvPicPr>
          <p:cNvPr id="44" name="Picture 4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45" name="Picture 4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46" name="Picture 4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47" name="Picture 4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48" name="Picture 4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49" name="Picture 4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Tree>
    <p:extLst>
      <p:ext uri="{BB962C8B-B14F-4D97-AF65-F5344CB8AC3E}">
        <p14:creationId xmlns:p14="http://schemas.microsoft.com/office/powerpoint/2010/main" val="1539386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a:spLocks noChangeAspect="1"/>
          </p:cNvSpPr>
          <p:nvPr/>
        </p:nvSpPr>
        <p:spPr>
          <a:xfrm>
            <a:off x="1731149" y="1373554"/>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a:spLocks noChangeAspect="1"/>
          </p:cNvSpPr>
          <p:nvPr/>
        </p:nvSpPr>
        <p:spPr>
          <a:xfrm>
            <a:off x="1900046" y="5066269"/>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a:spLocks noChangeAspect="1"/>
          </p:cNvSpPr>
          <p:nvPr/>
        </p:nvSpPr>
        <p:spPr>
          <a:xfrm>
            <a:off x="2093186" y="2121958"/>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erge 25"/>
          <p:cNvSpPr/>
          <p:nvPr/>
        </p:nvSpPr>
        <p:spPr>
          <a:xfrm rot="16200000">
            <a:off x="1805756" y="3276316"/>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sp>
        <p:nvSpPr>
          <p:cNvPr id="44" name="TextBox 43"/>
          <p:cNvSpPr txBox="1"/>
          <p:nvPr/>
        </p:nvSpPr>
        <p:spPr>
          <a:xfrm>
            <a:off x="63099" y="2866068"/>
            <a:ext cx="1490764" cy="923330"/>
          </a:xfrm>
          <a:prstGeom prst="rect">
            <a:avLst/>
          </a:prstGeom>
          <a:noFill/>
        </p:spPr>
        <p:txBody>
          <a:bodyPr wrap="square" rtlCol="0">
            <a:spAutoFit/>
          </a:bodyPr>
          <a:lstStyle/>
          <a:p>
            <a:pPr algn="ctr"/>
            <a:r>
              <a:rPr lang="en-US" b="1" dirty="0" smtClean="0">
                <a:latin typeface="Courier New" charset="0"/>
                <a:ea typeface="Courier New" charset="0"/>
                <a:cs typeface="Courier New" charset="0"/>
              </a:rPr>
              <a:t>FEATURED</a:t>
            </a:r>
          </a:p>
          <a:p>
            <a:pPr algn="ctr"/>
            <a:r>
              <a:rPr lang="en-US" b="1" dirty="0" smtClean="0">
                <a:latin typeface="Courier New" charset="0"/>
                <a:ea typeface="Courier New" charset="0"/>
                <a:cs typeface="Courier New" charset="0"/>
              </a:rPr>
              <a:t>DATA</a:t>
            </a:r>
          </a:p>
          <a:p>
            <a:pPr algn="ctr"/>
            <a:r>
              <a:rPr lang="en-US" b="1" dirty="0" smtClean="0">
                <a:latin typeface="Courier New" charset="0"/>
                <a:ea typeface="Courier New" charset="0"/>
                <a:cs typeface="Courier New" charset="0"/>
              </a:rPr>
              <a:t>VIZZES</a:t>
            </a:r>
            <a:endParaRPr lang="en-US" b="1" dirty="0">
              <a:latin typeface="Courier New" charset="0"/>
              <a:ea typeface="Courier New" charset="0"/>
              <a:cs typeface="Courier New" charset="0"/>
            </a:endParaRPr>
          </a:p>
        </p:txBody>
      </p:sp>
      <p:pic>
        <p:nvPicPr>
          <p:cNvPr id="45" name="Picture 4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47" name="Picture 4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48" name="Picture 4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49" name="Picture 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50" name="Picture 4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
        <p:nvSpPr>
          <p:cNvPr id="51" name="Rectangle 50"/>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42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a:spLocks noChangeAspect="1"/>
          </p:cNvSpPr>
          <p:nvPr/>
        </p:nvSpPr>
        <p:spPr>
          <a:xfrm>
            <a:off x="-2804984" y="1065771"/>
            <a:ext cx="4615248" cy="4615248"/>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a:spLocks noChangeAspect="1"/>
          </p:cNvSpPr>
          <p:nvPr/>
        </p:nvSpPr>
        <p:spPr>
          <a:xfrm>
            <a:off x="1731149" y="1373554"/>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a:spLocks noChangeAspect="1"/>
          </p:cNvSpPr>
          <p:nvPr/>
        </p:nvSpPr>
        <p:spPr>
          <a:xfrm>
            <a:off x="1193863" y="794447"/>
            <a:ext cx="360000" cy="36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a:spLocks noChangeAspect="1"/>
          </p:cNvSpPr>
          <p:nvPr/>
        </p:nvSpPr>
        <p:spPr>
          <a:xfrm>
            <a:off x="2242541" y="3103395"/>
            <a:ext cx="540000" cy="540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a:spLocks noChangeAspect="1"/>
          </p:cNvSpPr>
          <p:nvPr/>
        </p:nvSpPr>
        <p:spPr>
          <a:xfrm>
            <a:off x="2093186" y="2121958"/>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a:spLocks noChangeAspect="1"/>
          </p:cNvSpPr>
          <p:nvPr/>
        </p:nvSpPr>
        <p:spPr>
          <a:xfrm>
            <a:off x="2093186" y="4084832"/>
            <a:ext cx="468000" cy="468000"/>
          </a:xfrm>
          <a:prstGeom prst="ellips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erge 25"/>
          <p:cNvSpPr/>
          <p:nvPr/>
        </p:nvSpPr>
        <p:spPr>
          <a:xfrm rot="16200000">
            <a:off x="1805756" y="3276316"/>
            <a:ext cx="441293" cy="194157"/>
          </a:xfrm>
          <a:prstGeom prst="flowChartMerg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47440" t="12794" r="7375" b="10810"/>
          <a:stretch/>
        </p:blipFill>
        <p:spPr>
          <a:xfrm>
            <a:off x="2555758" y="3458116"/>
            <a:ext cx="214145" cy="271849"/>
          </a:xfrm>
          <a:prstGeom prst="rect">
            <a:avLst/>
          </a:prstGeom>
        </p:spPr>
      </p:pic>
      <p:sp>
        <p:nvSpPr>
          <p:cNvPr id="17" name="TextBox 16"/>
          <p:cNvSpPr txBox="1"/>
          <p:nvPr/>
        </p:nvSpPr>
        <p:spPr>
          <a:xfrm>
            <a:off x="-47203" y="3194697"/>
            <a:ext cx="1857467" cy="369332"/>
          </a:xfrm>
          <a:prstGeom prst="rect">
            <a:avLst/>
          </a:prstGeom>
          <a:noFill/>
        </p:spPr>
        <p:txBody>
          <a:bodyPr wrap="square" rtlCol="0">
            <a:spAutoFit/>
          </a:bodyPr>
          <a:lstStyle/>
          <a:p>
            <a:pPr algn="ctr"/>
            <a:r>
              <a:rPr lang="en-US" b="1" dirty="0" smtClean="0">
                <a:latin typeface="Courier New" charset="0"/>
                <a:ea typeface="Courier New" charset="0"/>
                <a:cs typeface="Courier New" charset="0"/>
              </a:rPr>
              <a:t>VIZSPIRATION</a:t>
            </a:r>
            <a:endParaRPr lang="en-US" b="1" dirty="0">
              <a:latin typeface="Courier New" charset="0"/>
              <a:ea typeface="Courier New" charset="0"/>
              <a:cs typeface="Courier New" charset="0"/>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580" y="144819"/>
            <a:ext cx="396000" cy="396000"/>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0127" y="144819"/>
            <a:ext cx="396000" cy="396000"/>
          </a:xfrm>
          <a:prstGeom prst="rect">
            <a:avLst/>
          </a:prstGeom>
        </p:spPr>
      </p:pic>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54" y="144819"/>
            <a:ext cx="399504" cy="396000"/>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7607" y="144819"/>
            <a:ext cx="396960" cy="396000"/>
          </a:xfrm>
          <a:prstGeom prst="rect">
            <a:avLst/>
          </a:prstGeom>
        </p:spPr>
      </p:pic>
      <p:pic>
        <p:nvPicPr>
          <p:cNvPr id="22"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7351" y="144819"/>
            <a:ext cx="395045" cy="396000"/>
          </a:xfrm>
          <a:prstGeom prst="rect">
            <a:avLst/>
          </a:prstGeom>
        </p:spPr>
      </p:pic>
      <p:pic>
        <p:nvPicPr>
          <p:cNvPr id="23" name="Picture 2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5965" y="144819"/>
            <a:ext cx="396000" cy="396000"/>
          </a:xfrm>
          <a:prstGeom prst="rect">
            <a:avLst/>
          </a:prstGeom>
        </p:spPr>
      </p:pic>
      <p:sp>
        <p:nvSpPr>
          <p:cNvPr id="24" name="Rectangle 23"/>
          <p:cNvSpPr/>
          <p:nvPr/>
        </p:nvSpPr>
        <p:spPr>
          <a:xfrm>
            <a:off x="4681061" y="106087"/>
            <a:ext cx="7296147" cy="653461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6421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2169</TotalTime>
  <Words>249</Words>
  <Application>Microsoft Macintosh PowerPoint</Application>
  <PresentationFormat>Widescreen</PresentationFormat>
  <Paragraphs>124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Andale Mono</vt:lpstr>
      <vt:lpstr>Calibri</vt:lpstr>
      <vt:lpstr>Calibri Light</vt:lpstr>
      <vt:lpstr>Courier New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24</cp:revision>
  <dcterms:created xsi:type="dcterms:W3CDTF">2018-02-22T14:20:05Z</dcterms:created>
  <dcterms:modified xsi:type="dcterms:W3CDTF">2018-02-24T02:29:31Z</dcterms:modified>
</cp:coreProperties>
</file>